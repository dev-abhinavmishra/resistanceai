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Abhinav. Doctors who treat cancer face a hard problem: even with a tumor's DNA report in hand, it is hard to know which drug will actually work. I built a small app that estimates that up front. In about three minutes I will show you the whole thing,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primer for anyone without a biology background. Cancer begins when a cell's DNA is damaged and the cell grows out of control. Clinics now sequence a tumor's DNA, and for many of the errors they find, called mutations, there is a drug designed to hit that exact weakness. That matching is called precision oncology.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tumor report comes back, a panel of specialists called a molecular tumor board can review it and recommend a drug. Those panels mostly exist at large academic cancer centers. The oncologist, the cancer doctor treating most patients, is often reading that report alone under time pressure, and a drug that cannot work still costs the patient weeks on the clock.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writing rules by hand, I trained the model on two public datasets from Memorial Sloan Kettering Cancer Center: MSK-IMPACT and MSK-CHORD. After cleaning, 26,064 patients had both a sequenced tumor and a recorded outcome. Every number the app produces traces back to those real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it is running. I load a real lung cancer patient and the app scores a 53 percent chance the next treatment fails. Notice the range beside it: the model is honest that this profile is unusual, and unusual is exactly when a doctor should slow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and doctors ask the same question: why this number. The chart on the left removes each feature one at a time and measures how much the score moves. The cards on the right name biological escape routes the tumor might use, and each card cites the specific mutation it found in this patient's DNA.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risk score alone does not help anyone act. So the app maps the patient's mutations to treatment regimens with their evidence grades, searches ClinicalTrials.gov live for recruiting studies, and shows what actually happened to the eight most similar patients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the pipeline is four steps. The DNA report is cleaned into a fixed list of 201 signals. Eight gradient boosting models, each trained on a different slice of patients, each make a prediction. A final calibration step turns their average vote into a true probability: 60 percent means about 60 percent of similar patients really did fail.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part, in the actual code. The eight models vote, we take the mean, then we measure how much they disagree. Large disagreement becomes a wide band on screen. The app never pretends to be sure when it is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report card on 5,213 patients the model never trained on. Each dot asks the same question: when the model predicted a number, what share of patients actually failed. The dots sit near the diagonal, which is what honest probability looks like. It is not a crystal ball, and the app says that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ResistanceAI. It gives a doctor the kind of read an expert panel would give, in seconds, with the reasoning left on the screen. Everything you saw is the running app on real public data. Thanks for watching.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in this deck traces to one of these sources or to the app's own evaluation artifacts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554480"/>
            <a:ext cx="10789920" cy="457200"/>
          </a:xfrm>
          <a:prstGeom prst="rect">
            <a:avLst/>
          </a:prstGeom>
          <a:noFill/>
        </p:spPr>
        <p:txBody>
          <a:bodyPr wrap="square" anchor="t" lIns="0" rIns="0" tIns="0" bIns="0">
            <a:spAutoFit/>
          </a:bodyPr>
          <a:lstStyle/>
          <a:p>
            <a:pPr algn="l">
              <a:lnSpc>
                <a:spcPct val="108000"/>
              </a:lnSpc>
              <a:spcAft>
                <a:spcPts val="800"/>
              </a:spcAft>
            </a:pPr>
            <a:r>
              <a:rPr sz="1800" b="1">
                <a:solidFill>
                  <a:srgbClr val="60A5FA"/>
                </a:solidFill>
                <a:latin typeface="Segoe UI"/>
              </a:rPr>
              <a:t>CONGRESSIONAL APP CHALLENGE</a:t>
            </a:r>
          </a:p>
        </p:txBody>
      </p:sp>
      <p:sp>
        <p:nvSpPr>
          <p:cNvPr id="4" name="TextBox 3"/>
          <p:cNvSpPr txBox="1"/>
          <p:nvPr/>
        </p:nvSpPr>
        <p:spPr>
          <a:xfrm>
            <a:off x="685800" y="2148840"/>
            <a:ext cx="10789920" cy="1280160"/>
          </a:xfrm>
          <a:prstGeom prst="rect">
            <a:avLst/>
          </a:prstGeom>
          <a:noFill/>
        </p:spPr>
        <p:txBody>
          <a:bodyPr wrap="square" anchor="t" lIns="0" rIns="0" tIns="0" bIns="0">
            <a:spAutoFit/>
          </a:bodyPr>
          <a:lstStyle/>
          <a:p>
            <a:pPr algn="l">
              <a:lnSpc>
                <a:spcPct val="108000"/>
              </a:lnSpc>
              <a:spcAft>
                <a:spcPts val="800"/>
              </a:spcAft>
            </a:pPr>
            <a:r>
              <a:rPr sz="6600" b="1">
                <a:solidFill>
                  <a:srgbClr val="F1F5F9"/>
                </a:solidFill>
                <a:latin typeface="Segoe UI"/>
              </a:rPr>
              <a:t>ResistanceAI</a:t>
            </a:r>
          </a:p>
        </p:txBody>
      </p:sp>
      <p:sp>
        <p:nvSpPr>
          <p:cNvPr id="5" name="TextBox 4"/>
          <p:cNvSpPr txBox="1"/>
          <p:nvPr/>
        </p:nvSpPr>
        <p:spPr>
          <a:xfrm>
            <a:off x="713232" y="3429000"/>
            <a:ext cx="9875520" cy="1097280"/>
          </a:xfrm>
          <a:prstGeom prst="rect">
            <a:avLst/>
          </a:prstGeom>
          <a:noFill/>
        </p:spPr>
        <p:txBody>
          <a:bodyPr wrap="square" anchor="t" lIns="0" rIns="0" tIns="0" bIns="0">
            <a:spAutoFit/>
          </a:bodyPr>
          <a:lstStyle/>
          <a:p>
            <a:pPr algn="l">
              <a:lnSpc>
                <a:spcPct val="115000"/>
              </a:lnSpc>
              <a:spcAft>
                <a:spcPts val="800"/>
              </a:spcAft>
            </a:pPr>
            <a:r>
              <a:rPr sz="3000" b="0">
                <a:solidFill>
                  <a:srgbClr val="94A3B8"/>
                </a:solidFill>
                <a:latin typeface="Segoe UI"/>
              </a:rPr>
              <a:t>Software that helps cancer doctors choose treatments less likely to fail.</a:t>
            </a:r>
          </a:p>
        </p:txBody>
      </p:sp>
      <p:sp>
        <p:nvSpPr>
          <p:cNvPr id="6" name="TextBox 5"/>
          <p:cNvSpPr txBox="1"/>
          <p:nvPr/>
        </p:nvSpPr>
        <p:spPr>
          <a:xfrm>
            <a:off x="713232" y="5394960"/>
            <a:ext cx="10789920" cy="457200"/>
          </a:xfrm>
          <a:prstGeom prst="rect">
            <a:avLst/>
          </a:prstGeom>
          <a:noFill/>
        </p:spPr>
        <p:txBody>
          <a:bodyPr wrap="square" anchor="t" lIns="0" rIns="0" tIns="0" bIns="0">
            <a:spAutoFit/>
          </a:bodyPr>
          <a:lstStyle/>
          <a:p>
            <a:pPr algn="l">
              <a:lnSpc>
                <a:spcPct val="108000"/>
              </a:lnSpc>
              <a:spcAft>
                <a:spcPts val="800"/>
              </a:spcAft>
            </a:pPr>
            <a:r>
              <a:rPr sz="1800" b="0">
                <a:solidFill>
                  <a:srgbClr val="94A3B8"/>
                </a:solidFill>
                <a:latin typeface="Segoe UI"/>
              </a:rPr>
              <a:t>Abhinav Mishra     Python and Streamlit     trained on free public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Cancer starts when DNA instructions go wrong.</a:t>
            </a:r>
          </a:p>
        </p:txBody>
      </p:sp>
      <p:sp>
        <p:nvSpPr>
          <p:cNvPr id="3" name="TextBox 2"/>
          <p:cNvSpPr txBox="1"/>
          <p:nvPr/>
        </p:nvSpPr>
        <p:spPr>
          <a:xfrm>
            <a:off x="777240" y="1965960"/>
            <a:ext cx="10241280" cy="3657600"/>
          </a:xfrm>
          <a:prstGeom prst="rect">
            <a:avLst/>
          </a:prstGeom>
          <a:noFill/>
        </p:spPr>
        <p:txBody>
          <a:bodyPr wrap="square" anchor="t" lIns="0" rIns="0" tIns="0" bIns="0">
            <a:spAutoFit/>
          </a:bodyPr>
          <a:lstStyle/>
          <a:p>
            <a:pPr algn="l">
              <a:lnSpc>
                <a:spcPct val="108000"/>
              </a:lnSpc>
              <a:spcAft>
                <a:spcPts val="2000"/>
              </a:spcAft>
            </a:pPr>
            <a:r>
              <a:rPr sz="2600" b="0">
                <a:solidFill>
                  <a:srgbClr val="F1F5F9"/>
                </a:solidFill>
                <a:latin typeface="Segoe UI"/>
              </a:rPr>
              <a:t>A tumor's DNA is its damaged instruction manual.</a:t>
            </a:r>
          </a:p>
          <a:p>
            <a:pPr algn="l">
              <a:lnSpc>
                <a:spcPct val="108000"/>
              </a:lnSpc>
              <a:spcAft>
                <a:spcPts val="2000"/>
              </a:spcAft>
            </a:pPr>
            <a:r>
              <a:rPr sz="2600" b="0">
                <a:solidFill>
                  <a:srgbClr val="F1F5F9"/>
                </a:solidFill>
                <a:latin typeface="Segoe UI"/>
              </a:rPr>
              <a:t>Labs can now read that damage letter by letter.</a:t>
            </a:r>
          </a:p>
          <a:p>
            <a:pPr algn="l">
              <a:lnSpc>
                <a:spcPct val="108000"/>
              </a:lnSpc>
              <a:spcAft>
                <a:spcPts val="2000"/>
              </a:spcAft>
            </a:pPr>
            <a:r>
              <a:rPr sz="2600" b="0">
                <a:solidFill>
                  <a:srgbClr val="F1F5F9"/>
                </a:solidFill>
                <a:latin typeface="Segoe UI"/>
              </a:rPr>
              <a:t>Some DNA errors have drugs built to block them.</a:t>
            </a:r>
          </a:p>
          <a:p>
            <a:pPr algn="l">
              <a:lnSpc>
                <a:spcPct val="108000"/>
              </a:lnSpc>
              <a:spcAft>
                <a:spcPts val="2000"/>
              </a:spcAft>
            </a:pPr>
            <a:r>
              <a:rPr sz="2600" b="0">
                <a:solidFill>
                  <a:srgbClr val="F1F5F9"/>
                </a:solidFill>
                <a:latin typeface="Segoe UI"/>
              </a:rPr>
              <a:t>Matching the error to the drug is precision oncology.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Knowing which drug will work takes experts most hospitals lack.</a:t>
            </a:r>
          </a:p>
        </p:txBody>
      </p:sp>
      <p:sp>
        <p:nvSpPr>
          <p:cNvPr id="3" name="TextBox 2"/>
          <p:cNvSpPr txBox="1"/>
          <p:nvPr/>
        </p:nvSpPr>
        <p:spPr>
          <a:xfrm>
            <a:off x="777240" y="1965960"/>
            <a:ext cx="6492240" cy="4023360"/>
          </a:xfrm>
          <a:prstGeom prst="rect">
            <a:avLst/>
          </a:prstGeom>
          <a:noFill/>
        </p:spPr>
        <p:txBody>
          <a:bodyPr wrap="square" anchor="t" lIns="0" rIns="0" tIns="0" bIns="0">
            <a:spAutoFit/>
          </a:bodyPr>
          <a:lstStyle/>
          <a:p>
            <a:pPr algn="l">
              <a:lnSpc>
                <a:spcPct val="108000"/>
              </a:lnSpc>
              <a:spcAft>
                <a:spcPts val="2000"/>
              </a:spcAft>
            </a:pPr>
            <a:r>
              <a:rPr sz="2600" b="0">
                <a:solidFill>
                  <a:srgbClr val="F1F5F9"/>
                </a:solidFill>
                <a:latin typeface="Segoe UI"/>
              </a:rPr>
              <a:t>A sequencing report can list hundreds of mutations.</a:t>
            </a:r>
          </a:p>
          <a:p>
            <a:pPr algn="l">
              <a:lnSpc>
                <a:spcPct val="108000"/>
              </a:lnSpc>
              <a:spcAft>
                <a:spcPts val="2000"/>
              </a:spcAft>
            </a:pPr>
            <a:r>
              <a:rPr sz="2600" b="0">
                <a:solidFill>
                  <a:srgbClr val="F1F5F9"/>
                </a:solidFill>
                <a:latin typeface="Segoe UI"/>
              </a:rPr>
              <a:t>Specialist panels read them, mostly at big centers.</a:t>
            </a:r>
          </a:p>
          <a:p>
            <a:pPr algn="l">
              <a:lnSpc>
                <a:spcPct val="108000"/>
              </a:lnSpc>
              <a:spcAft>
                <a:spcPts val="2000"/>
              </a:spcAft>
            </a:pPr>
            <a:r>
              <a:rPr sz="2600" b="0">
                <a:solidFill>
                  <a:srgbClr val="F1F5F9"/>
                </a:solidFill>
                <a:latin typeface="Segoe UI"/>
              </a:rPr>
              <a:t>A community oncologist often reads it alone.</a:t>
            </a:r>
          </a:p>
          <a:p>
            <a:pPr algn="l">
              <a:lnSpc>
                <a:spcPct val="108000"/>
              </a:lnSpc>
              <a:spcAft>
                <a:spcPts val="2000"/>
              </a:spcAft>
            </a:pPr>
            <a:r>
              <a:rPr sz="2600" b="0">
                <a:solidFill>
                  <a:srgbClr val="F1F5F9"/>
                </a:solidFill>
                <a:latin typeface="Segoe UI"/>
              </a:rPr>
              <a:t>A wrong first choice can cost months.</a:t>
            </a:r>
          </a:p>
        </p:txBody>
      </p:sp>
      <p:sp>
        <p:nvSpPr>
          <p:cNvPr id="4" name="Rounded Rectangle 3"/>
          <p:cNvSpPr/>
          <p:nvPr/>
        </p:nvSpPr>
        <p:spPr>
          <a:xfrm>
            <a:off x="7726679" y="1920240"/>
            <a:ext cx="3749039" cy="393192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92440" y="2331720"/>
            <a:ext cx="3063240" cy="457200"/>
          </a:xfrm>
          <a:prstGeom prst="rect">
            <a:avLst/>
          </a:prstGeom>
          <a:noFill/>
        </p:spPr>
        <p:txBody>
          <a:bodyPr wrap="square" anchor="t" lIns="0" rIns="0" tIns="0" bIns="0">
            <a:spAutoFit/>
          </a:bodyPr>
          <a:lstStyle/>
          <a:p>
            <a:pPr algn="l">
              <a:lnSpc>
                <a:spcPct val="108000"/>
              </a:lnSpc>
              <a:spcAft>
                <a:spcPts val="800"/>
              </a:spcAft>
            </a:pPr>
            <a:r>
              <a:rPr sz="1300" b="1">
                <a:solidFill>
                  <a:srgbClr val="60A5FA"/>
                </a:solidFill>
                <a:latin typeface="Segoe UI"/>
              </a:rPr>
              <a:t>WHAT AN ONCOLOGIST IS</a:t>
            </a:r>
          </a:p>
        </p:txBody>
      </p:sp>
      <p:sp>
        <p:nvSpPr>
          <p:cNvPr id="6" name="TextBox 5"/>
          <p:cNvSpPr txBox="1"/>
          <p:nvPr/>
        </p:nvSpPr>
        <p:spPr>
          <a:xfrm>
            <a:off x="8092440" y="2788920"/>
            <a:ext cx="3063240" cy="2926080"/>
          </a:xfrm>
          <a:prstGeom prst="rect">
            <a:avLst/>
          </a:prstGeom>
          <a:noFill/>
        </p:spPr>
        <p:txBody>
          <a:bodyPr wrap="square" anchor="t" lIns="0" rIns="0" tIns="0" bIns="0">
            <a:spAutoFit/>
          </a:bodyPr>
          <a:lstStyle/>
          <a:p>
            <a:pPr algn="l">
              <a:lnSpc>
                <a:spcPct val="120000"/>
              </a:lnSpc>
              <a:spcAft>
                <a:spcPts val="800"/>
              </a:spcAft>
            </a:pPr>
            <a:r>
              <a:rPr sz="2000" b="0">
                <a:solidFill>
                  <a:srgbClr val="94A3B8"/>
                </a:solidFill>
                <a:latin typeface="Segoe UI"/>
              </a:rPr>
              <a:t>The doctor who treats cancer.
When the DNA report arrives, they choose the drug. The report is long, the evidence is scattered, and the clock is running.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So the model learned from real patients, not rules I wrote.</a:t>
            </a:r>
          </a:p>
        </p:txBody>
      </p:sp>
      <p:sp>
        <p:nvSpPr>
          <p:cNvPr id="3" name="TextBox 2"/>
          <p:cNvSpPr txBox="1"/>
          <p:nvPr/>
        </p:nvSpPr>
        <p:spPr>
          <a:xfrm>
            <a:off x="685800" y="2148840"/>
            <a:ext cx="6766560" cy="2011680"/>
          </a:xfrm>
          <a:prstGeom prst="rect">
            <a:avLst/>
          </a:prstGeom>
          <a:noFill/>
        </p:spPr>
        <p:txBody>
          <a:bodyPr wrap="square" anchor="t" lIns="0" rIns="0" tIns="0" bIns="0">
            <a:spAutoFit/>
          </a:bodyPr>
          <a:lstStyle/>
          <a:p>
            <a:pPr algn="l">
              <a:lnSpc>
                <a:spcPct val="108000"/>
              </a:lnSpc>
              <a:spcAft>
                <a:spcPts val="800"/>
              </a:spcAft>
            </a:pPr>
            <a:r>
              <a:rPr sz="12000" b="1">
                <a:solidFill>
                  <a:srgbClr val="60A5FA"/>
                </a:solidFill>
                <a:latin typeface="Consolas"/>
              </a:rPr>
              <a:t>26,064</a:t>
            </a:r>
          </a:p>
        </p:txBody>
      </p:sp>
      <p:sp>
        <p:nvSpPr>
          <p:cNvPr id="4" name="TextBox 3"/>
          <p:cNvSpPr txBox="1"/>
          <p:nvPr/>
        </p:nvSpPr>
        <p:spPr>
          <a:xfrm>
            <a:off x="731520" y="4526280"/>
            <a:ext cx="6766560" cy="1097280"/>
          </a:xfrm>
          <a:prstGeom prst="rect">
            <a:avLst/>
          </a:prstGeom>
          <a:noFill/>
        </p:spPr>
        <p:txBody>
          <a:bodyPr wrap="square" anchor="t" lIns="0" rIns="0" tIns="0" bIns="0">
            <a:spAutoFit/>
          </a:bodyPr>
          <a:lstStyle/>
          <a:p>
            <a:pPr algn="l">
              <a:lnSpc>
                <a:spcPct val="115000"/>
              </a:lnSpc>
              <a:spcAft>
                <a:spcPts val="800"/>
              </a:spcAft>
            </a:pPr>
            <a:r>
              <a:rPr sz="2600" b="0">
                <a:solidFill>
                  <a:srgbClr val="F1F5F9"/>
                </a:solidFill>
                <a:latin typeface="Segoe UI"/>
              </a:rPr>
              <a:t>cancer patients whose tumors were sequenced, with outcomes on record.</a:t>
            </a:r>
          </a:p>
        </p:txBody>
      </p:sp>
      <p:sp>
        <p:nvSpPr>
          <p:cNvPr id="5" name="Rounded Rectangle 4"/>
          <p:cNvSpPr/>
          <p:nvPr/>
        </p:nvSpPr>
        <p:spPr>
          <a:xfrm>
            <a:off x="7772400" y="2331720"/>
            <a:ext cx="3703320" cy="32004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2697480"/>
            <a:ext cx="3017520" cy="411480"/>
          </a:xfrm>
          <a:prstGeom prst="rect">
            <a:avLst/>
          </a:prstGeom>
          <a:noFill/>
        </p:spPr>
        <p:txBody>
          <a:bodyPr wrap="square" anchor="t" lIns="0" rIns="0" tIns="0" bIns="0">
            <a:spAutoFit/>
          </a:bodyPr>
          <a:lstStyle/>
          <a:p>
            <a:pPr algn="l">
              <a:lnSpc>
                <a:spcPct val="108000"/>
              </a:lnSpc>
              <a:spcAft>
                <a:spcPts val="800"/>
              </a:spcAft>
            </a:pPr>
            <a:r>
              <a:rPr sz="1300" b="1">
                <a:solidFill>
                  <a:srgbClr val="60A5FA"/>
                </a:solidFill>
                <a:latin typeface="Segoe UI"/>
              </a:rPr>
              <a:t>WHERE THE DATA CAME FROM</a:t>
            </a:r>
          </a:p>
        </p:txBody>
      </p:sp>
      <p:sp>
        <p:nvSpPr>
          <p:cNvPr id="7" name="TextBox 6"/>
          <p:cNvSpPr txBox="1"/>
          <p:nvPr/>
        </p:nvSpPr>
        <p:spPr>
          <a:xfrm>
            <a:off x="8138160" y="3154680"/>
            <a:ext cx="3017520" cy="2194560"/>
          </a:xfrm>
          <a:prstGeom prst="rect">
            <a:avLst/>
          </a:prstGeom>
          <a:noFill/>
        </p:spPr>
        <p:txBody>
          <a:bodyPr wrap="square" anchor="t" lIns="0" rIns="0" tIns="0" bIns="0">
            <a:spAutoFit/>
          </a:bodyPr>
          <a:lstStyle/>
          <a:p>
            <a:pPr algn="l">
              <a:lnSpc>
                <a:spcPct val="120000"/>
              </a:lnSpc>
              <a:spcAft>
                <a:spcPts val="800"/>
              </a:spcAft>
            </a:pPr>
            <a:r>
              <a:rPr sz="2000" b="0">
                <a:solidFill>
                  <a:srgbClr val="94A3B8"/>
                </a:solidFill>
                <a:latin typeface="Segoe UI"/>
              </a:rPr>
              <a:t>Two public research datasets from Memorial Sloan Kettering, one of the largest cancer centers in the world.</a:t>
            </a:r>
          </a:p>
        </p:txBody>
      </p:sp>
      <p:sp>
        <p:nvSpPr>
          <p:cNvPr id="8" name="TextBox 7"/>
          <p:cNvSpPr txBox="1"/>
          <p:nvPr/>
        </p:nvSpPr>
        <p:spPr>
          <a:xfrm>
            <a:off x="685800" y="6446520"/>
            <a:ext cx="10835640" cy="320040"/>
          </a:xfrm>
          <a:prstGeom prst="rect">
            <a:avLst/>
          </a:prstGeom>
          <a:noFill/>
        </p:spPr>
        <p:txBody>
          <a:bodyPr wrap="square" anchor="t" lIns="0" rIns="0" tIns="0" bIns="0">
            <a:spAutoFit/>
          </a:bodyPr>
          <a:lstStyle/>
          <a:p>
            <a:pPr algn="l">
              <a:lnSpc>
                <a:spcPct val="108000"/>
              </a:lnSpc>
              <a:spcAft>
                <a:spcPts val="800"/>
              </a:spcAft>
            </a:pPr>
            <a:r>
              <a:rPr sz="1200" b="0">
                <a:solidFill>
                  <a:srgbClr val="94A3B8"/>
                </a:solidFill>
                <a:latin typeface="Segoe UI"/>
              </a:rPr>
              <a:t>Source: MSK-IMPACT (Zehir et al., Nat Med 2017) and MSK-CHORD (Nature 2024) via cBioPortal.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It estimates the chance the next treatment fails.</a:t>
            </a:r>
          </a:p>
        </p:txBody>
      </p:sp>
      <p:pic>
        <p:nvPicPr>
          <p:cNvPr id="3" name="Picture 2" descr="v9_risk_full.png"/>
          <p:cNvPicPr>
            <a:picLocks noChangeAspect="1"/>
          </p:cNvPicPr>
          <p:nvPr/>
        </p:nvPicPr>
        <p:blipFill>
          <a:blip r:embed="rId2"/>
          <a:stretch>
            <a:fillRect/>
          </a:stretch>
        </p:blipFill>
        <p:spPr>
          <a:xfrm>
            <a:off x="640080" y="1783080"/>
            <a:ext cx="7543800" cy="3673673"/>
          </a:xfrm>
          <a:prstGeom prst="rect">
            <a:avLst/>
          </a:prstGeom>
        </p:spPr>
      </p:pic>
      <p:sp>
        <p:nvSpPr>
          <p:cNvPr id="4" name="Rectangle 3"/>
          <p:cNvSpPr/>
          <p:nvPr/>
        </p:nvSpPr>
        <p:spPr>
          <a:xfrm>
            <a:off x="640080" y="1783080"/>
            <a:ext cx="7543800" cy="3673673"/>
          </a:xfrm>
          <a:prstGeom prst="rect">
            <a:avLst/>
          </a:prstGeom>
          <a:no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2194560"/>
            <a:ext cx="3017520" cy="3474720"/>
          </a:xfrm>
          <a:prstGeom prst="rect">
            <a:avLst/>
          </a:prstGeom>
          <a:noFill/>
        </p:spPr>
        <p:txBody>
          <a:bodyPr wrap="square" anchor="t" lIns="0" rIns="0" tIns="0" bIns="0">
            <a:spAutoFit/>
          </a:bodyPr>
          <a:lstStyle/>
          <a:p>
            <a:pPr algn="l">
              <a:lnSpc>
                <a:spcPct val="108000"/>
              </a:lnSpc>
              <a:spcAft>
                <a:spcPts val="2000"/>
              </a:spcAft>
            </a:pPr>
            <a:r>
              <a:rPr sz="2400" b="0">
                <a:solidFill>
                  <a:srgbClr val="F1F5F9"/>
                </a:solidFill>
                <a:latin typeface="Segoe UI"/>
              </a:rPr>
              <a:t>Load a patient in one click.</a:t>
            </a:r>
          </a:p>
          <a:p>
            <a:pPr algn="l">
              <a:lnSpc>
                <a:spcPct val="108000"/>
              </a:lnSpc>
              <a:spcAft>
                <a:spcPts val="2000"/>
              </a:spcAft>
            </a:pPr>
            <a:r>
              <a:rPr sz="2400" b="0">
                <a:solidFill>
                  <a:srgbClr val="F1F5F9"/>
                </a:solidFill>
                <a:latin typeface="Segoe UI"/>
              </a:rPr>
              <a:t>One read: 53 percent.</a:t>
            </a:r>
          </a:p>
          <a:p>
            <a:pPr algn="l">
              <a:lnSpc>
                <a:spcPct val="108000"/>
              </a:lnSpc>
              <a:spcAft>
                <a:spcPts val="2000"/>
              </a:spcAft>
            </a:pPr>
            <a:r>
              <a:rPr sz="2400" b="0">
                <a:solidFill>
                  <a:srgbClr val="F1F5F9"/>
                </a:solidFill>
                <a:latin typeface="Segoe UI"/>
              </a:rPr>
              <a:t>Plus an honest range.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It shows exactly which evidence moved the number.</a:t>
            </a:r>
          </a:p>
        </p:txBody>
      </p:sp>
      <p:pic>
        <p:nvPicPr>
          <p:cNvPr id="3" name="Picture 2" descr="v9_attrib.png"/>
          <p:cNvPicPr>
            <a:picLocks noChangeAspect="1"/>
          </p:cNvPicPr>
          <p:nvPr/>
        </p:nvPicPr>
        <p:blipFill>
          <a:blip r:embed="rId2"/>
          <a:stretch>
            <a:fillRect/>
          </a:stretch>
        </p:blipFill>
        <p:spPr>
          <a:xfrm>
            <a:off x="1600200" y="1645920"/>
            <a:ext cx="9006840" cy="4648843"/>
          </a:xfrm>
          <a:prstGeom prst="rect">
            <a:avLst/>
          </a:prstGeom>
        </p:spPr>
      </p:pic>
      <p:sp>
        <p:nvSpPr>
          <p:cNvPr id="4" name="Rectangle 3"/>
          <p:cNvSpPr/>
          <p:nvPr/>
        </p:nvSpPr>
        <p:spPr>
          <a:xfrm>
            <a:off x="1600200" y="1645920"/>
            <a:ext cx="9006840" cy="4648842"/>
          </a:xfrm>
          <a:prstGeom prst="rect">
            <a:avLst/>
          </a:prstGeom>
          <a:no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400800"/>
            <a:ext cx="10607040" cy="365760"/>
          </a:xfrm>
          <a:prstGeom prst="rect">
            <a:avLst/>
          </a:prstGeom>
          <a:noFill/>
        </p:spPr>
        <p:txBody>
          <a:bodyPr wrap="square" anchor="t" lIns="0" rIns="0" tIns="0" bIns="0">
            <a:spAutoFit/>
          </a:bodyPr>
          <a:lstStyle/>
          <a:p>
            <a:pPr algn="ctr">
              <a:lnSpc>
                <a:spcPct val="108000"/>
              </a:lnSpc>
              <a:spcAft>
                <a:spcPts val="800"/>
              </a:spcAft>
            </a:pPr>
            <a:r>
              <a:rPr sz="1800" b="0">
                <a:solidFill>
                  <a:srgbClr val="94A3B8"/>
                </a:solidFill>
                <a:latin typeface="Segoe UI"/>
              </a:rPr>
              <a:t>Left: each feature's push on the score.   Right: escape routes to watch, each citing the mutation it found.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Then it lines up what is worth trying next.</a:t>
            </a:r>
          </a:p>
        </p:txBody>
      </p:sp>
      <p:pic>
        <p:nvPicPr>
          <p:cNvPr id="3" name="Picture 2" descr="v9_therapies.png"/>
          <p:cNvPicPr>
            <a:picLocks noChangeAspect="1"/>
          </p:cNvPicPr>
          <p:nvPr/>
        </p:nvPicPr>
        <p:blipFill>
          <a:blip r:embed="rId2"/>
          <a:stretch>
            <a:fillRect/>
          </a:stretch>
        </p:blipFill>
        <p:spPr>
          <a:xfrm>
            <a:off x="685800" y="1600200"/>
            <a:ext cx="5486400" cy="3086100"/>
          </a:xfrm>
          <a:prstGeom prst="rect">
            <a:avLst/>
          </a:prstGeom>
        </p:spPr>
      </p:pic>
      <p:sp>
        <p:nvSpPr>
          <p:cNvPr id="4" name="Rectangle 3"/>
          <p:cNvSpPr/>
          <p:nvPr/>
        </p:nvSpPr>
        <p:spPr>
          <a:xfrm>
            <a:off x="685800" y="1600200"/>
            <a:ext cx="5486400" cy="3086100"/>
          </a:xfrm>
          <a:prstGeom prst="rect">
            <a:avLst/>
          </a:prstGeom>
          <a:no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9_twins.png"/>
          <p:cNvPicPr>
            <a:picLocks noChangeAspect="1"/>
          </p:cNvPicPr>
          <p:nvPr/>
        </p:nvPicPr>
        <p:blipFill>
          <a:blip r:embed="rId3"/>
          <a:stretch>
            <a:fillRect/>
          </a:stretch>
        </p:blipFill>
        <p:spPr>
          <a:xfrm>
            <a:off x="6355080" y="1600200"/>
            <a:ext cx="5394960" cy="3034665"/>
          </a:xfrm>
          <a:prstGeom prst="rect">
            <a:avLst/>
          </a:prstGeom>
        </p:spPr>
      </p:pic>
      <p:sp>
        <p:nvSpPr>
          <p:cNvPr id="6" name="Rectangle 5"/>
          <p:cNvSpPr/>
          <p:nvPr/>
        </p:nvSpPr>
        <p:spPr>
          <a:xfrm>
            <a:off x="6355080" y="1600200"/>
            <a:ext cx="5394960" cy="3034665"/>
          </a:xfrm>
          <a:prstGeom prst="rect">
            <a:avLst/>
          </a:prstGeom>
          <a:no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806440"/>
            <a:ext cx="10607040" cy="822960"/>
          </a:xfrm>
          <a:prstGeom prst="rect">
            <a:avLst/>
          </a:prstGeom>
          <a:noFill/>
        </p:spPr>
        <p:txBody>
          <a:bodyPr wrap="square" anchor="t" lIns="0" rIns="0" tIns="0" bIns="0">
            <a:spAutoFit/>
          </a:bodyPr>
          <a:lstStyle/>
          <a:p>
            <a:pPr algn="l">
              <a:lnSpc>
                <a:spcPct val="108000"/>
              </a:lnSpc>
              <a:spcAft>
                <a:spcPts val="800"/>
              </a:spcAft>
            </a:pPr>
            <a:r>
              <a:rPr sz="2000" b="0">
                <a:solidFill>
                  <a:srgbClr val="94A3B8"/>
                </a:solidFill>
                <a:latin typeface="Segoe UI"/>
              </a:rPr>
              <a:t>Drugs matched to this tumor's mutations.   Recruiting trials, searched live.   Outcomes of similar patients.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Behind the screen, four steps a doctor can inspect.</a:t>
            </a:r>
          </a:p>
        </p:txBody>
      </p:sp>
      <p:sp>
        <p:nvSpPr>
          <p:cNvPr id="3" name="Rounded Rectangle 2"/>
          <p:cNvSpPr/>
          <p:nvPr/>
        </p:nvSpPr>
        <p:spPr>
          <a:xfrm>
            <a:off x="777240" y="2377440"/>
            <a:ext cx="2331720" cy="19202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606040"/>
            <a:ext cx="2331720" cy="640080"/>
          </a:xfrm>
          <a:prstGeom prst="rect">
            <a:avLst/>
          </a:prstGeom>
          <a:noFill/>
        </p:spPr>
        <p:txBody>
          <a:bodyPr wrap="square" anchor="t" lIns="0" rIns="0" tIns="0" bIns="0">
            <a:spAutoFit/>
          </a:bodyPr>
          <a:lstStyle/>
          <a:p>
            <a:pPr algn="ctr">
              <a:lnSpc>
                <a:spcPct val="108000"/>
              </a:lnSpc>
              <a:spcAft>
                <a:spcPts val="800"/>
              </a:spcAft>
            </a:pPr>
            <a:r>
              <a:rPr sz="3000" b="1">
                <a:solidFill>
                  <a:srgbClr val="60A5FA"/>
                </a:solidFill>
                <a:latin typeface="Consolas"/>
              </a:rPr>
              <a:t>1</a:t>
            </a:r>
          </a:p>
        </p:txBody>
      </p:sp>
      <p:sp>
        <p:nvSpPr>
          <p:cNvPr id="5" name="TextBox 4"/>
          <p:cNvSpPr txBox="1"/>
          <p:nvPr/>
        </p:nvSpPr>
        <p:spPr>
          <a:xfrm>
            <a:off x="914400" y="3200400"/>
            <a:ext cx="2057400" cy="640080"/>
          </a:xfrm>
          <a:prstGeom prst="rect">
            <a:avLst/>
          </a:prstGeom>
          <a:noFill/>
        </p:spPr>
        <p:txBody>
          <a:bodyPr wrap="square" anchor="t" lIns="0" rIns="0" tIns="0" bIns="0">
            <a:spAutoFit/>
          </a:bodyPr>
          <a:lstStyle/>
          <a:p>
            <a:pPr algn="ctr">
              <a:lnSpc>
                <a:spcPct val="108000"/>
              </a:lnSpc>
              <a:spcAft>
                <a:spcPts val="800"/>
              </a:spcAft>
            </a:pPr>
            <a:r>
              <a:rPr sz="2100" b="1">
                <a:solidFill>
                  <a:srgbClr val="F1F5F9"/>
                </a:solidFill>
                <a:latin typeface="Segoe UI"/>
              </a:rPr>
              <a:t>DNA report in</a:t>
            </a:r>
          </a:p>
        </p:txBody>
      </p:sp>
      <p:sp>
        <p:nvSpPr>
          <p:cNvPr id="6" name="TextBox 5"/>
          <p:cNvSpPr txBox="1"/>
          <p:nvPr/>
        </p:nvSpPr>
        <p:spPr>
          <a:xfrm>
            <a:off x="914400" y="3794760"/>
            <a:ext cx="2057400" cy="502920"/>
          </a:xfrm>
          <a:prstGeom prst="rect">
            <a:avLst/>
          </a:prstGeom>
          <a:noFill/>
        </p:spPr>
        <p:txBody>
          <a:bodyPr wrap="square" anchor="t" lIns="0" rIns="0" tIns="0" bIns="0">
            <a:spAutoFit/>
          </a:bodyPr>
          <a:lstStyle/>
          <a:p>
            <a:pPr algn="ctr">
              <a:lnSpc>
                <a:spcPct val="108000"/>
              </a:lnSpc>
              <a:spcAft>
                <a:spcPts val="800"/>
              </a:spcAft>
            </a:pPr>
            <a:r>
              <a:rPr sz="1500" b="0">
                <a:solidFill>
                  <a:srgbClr val="94A3B8"/>
                </a:solidFill>
                <a:latin typeface="Segoe UI"/>
              </a:rPr>
              <a:t>sequencing file</a:t>
            </a:r>
          </a:p>
        </p:txBody>
      </p:sp>
      <p:sp>
        <p:nvSpPr>
          <p:cNvPr id="7" name="TextBox 6"/>
          <p:cNvSpPr txBox="1"/>
          <p:nvPr/>
        </p:nvSpPr>
        <p:spPr>
          <a:xfrm>
            <a:off x="3163824" y="2971800"/>
            <a:ext cx="548640" cy="640080"/>
          </a:xfrm>
          <a:prstGeom prst="rect">
            <a:avLst/>
          </a:prstGeom>
          <a:noFill/>
        </p:spPr>
        <p:txBody>
          <a:bodyPr wrap="square" anchor="t" lIns="0" rIns="0" tIns="0" bIns="0">
            <a:spAutoFit/>
          </a:bodyPr>
          <a:lstStyle/>
          <a:p>
            <a:pPr algn="ctr">
              <a:lnSpc>
                <a:spcPct val="108000"/>
              </a:lnSpc>
              <a:spcAft>
                <a:spcPts val="800"/>
              </a:spcAft>
            </a:pPr>
            <a:r>
              <a:rPr sz="3600" b="0">
                <a:solidFill>
                  <a:srgbClr val="60A5FA"/>
                </a:solidFill>
                <a:latin typeface="Segoe UI"/>
              </a:rPr>
              <a:t>›</a:t>
            </a:r>
          </a:p>
        </p:txBody>
      </p:sp>
      <p:sp>
        <p:nvSpPr>
          <p:cNvPr id="8" name="Rounded Rectangle 7"/>
          <p:cNvSpPr/>
          <p:nvPr/>
        </p:nvSpPr>
        <p:spPr>
          <a:xfrm>
            <a:off x="3639312" y="2377440"/>
            <a:ext cx="2331720" cy="19202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2606040"/>
            <a:ext cx="2331720" cy="640080"/>
          </a:xfrm>
          <a:prstGeom prst="rect">
            <a:avLst/>
          </a:prstGeom>
          <a:noFill/>
        </p:spPr>
        <p:txBody>
          <a:bodyPr wrap="square" anchor="t" lIns="0" rIns="0" tIns="0" bIns="0">
            <a:spAutoFit/>
          </a:bodyPr>
          <a:lstStyle/>
          <a:p>
            <a:pPr algn="ctr">
              <a:lnSpc>
                <a:spcPct val="108000"/>
              </a:lnSpc>
              <a:spcAft>
                <a:spcPts val="800"/>
              </a:spcAft>
            </a:pPr>
            <a:r>
              <a:rPr sz="3000" b="1">
                <a:solidFill>
                  <a:srgbClr val="60A5FA"/>
                </a:solidFill>
                <a:latin typeface="Consolas"/>
              </a:rPr>
              <a:t>2</a:t>
            </a:r>
          </a:p>
        </p:txBody>
      </p:sp>
      <p:sp>
        <p:nvSpPr>
          <p:cNvPr id="10" name="TextBox 9"/>
          <p:cNvSpPr txBox="1"/>
          <p:nvPr/>
        </p:nvSpPr>
        <p:spPr>
          <a:xfrm>
            <a:off x="3776472" y="3200400"/>
            <a:ext cx="2057400" cy="640080"/>
          </a:xfrm>
          <a:prstGeom prst="rect">
            <a:avLst/>
          </a:prstGeom>
          <a:noFill/>
        </p:spPr>
        <p:txBody>
          <a:bodyPr wrap="square" anchor="t" lIns="0" rIns="0" tIns="0" bIns="0">
            <a:spAutoFit/>
          </a:bodyPr>
          <a:lstStyle/>
          <a:p>
            <a:pPr algn="ctr">
              <a:lnSpc>
                <a:spcPct val="108000"/>
              </a:lnSpc>
              <a:spcAft>
                <a:spcPts val="800"/>
              </a:spcAft>
            </a:pPr>
            <a:r>
              <a:rPr sz="2100" b="1">
                <a:solidFill>
                  <a:srgbClr val="F1F5F9"/>
                </a:solidFill>
                <a:latin typeface="Segoe UI"/>
              </a:rPr>
              <a:t>201 signals</a:t>
            </a:r>
          </a:p>
        </p:txBody>
      </p:sp>
      <p:sp>
        <p:nvSpPr>
          <p:cNvPr id="11" name="TextBox 10"/>
          <p:cNvSpPr txBox="1"/>
          <p:nvPr/>
        </p:nvSpPr>
        <p:spPr>
          <a:xfrm>
            <a:off x="3776472" y="3794760"/>
            <a:ext cx="2057400" cy="502920"/>
          </a:xfrm>
          <a:prstGeom prst="rect">
            <a:avLst/>
          </a:prstGeom>
          <a:noFill/>
        </p:spPr>
        <p:txBody>
          <a:bodyPr wrap="square" anchor="t" lIns="0" rIns="0" tIns="0" bIns="0">
            <a:spAutoFit/>
          </a:bodyPr>
          <a:lstStyle/>
          <a:p>
            <a:pPr algn="ctr">
              <a:lnSpc>
                <a:spcPct val="108000"/>
              </a:lnSpc>
              <a:spcAft>
                <a:spcPts val="800"/>
              </a:spcAft>
            </a:pPr>
            <a:r>
              <a:rPr sz="1500" b="0">
                <a:solidFill>
                  <a:srgbClr val="94A3B8"/>
                </a:solidFill>
                <a:latin typeface="Segoe UI"/>
              </a:rPr>
              <a:t>mutations and history</a:t>
            </a:r>
          </a:p>
        </p:txBody>
      </p:sp>
      <p:sp>
        <p:nvSpPr>
          <p:cNvPr id="12" name="TextBox 11"/>
          <p:cNvSpPr txBox="1"/>
          <p:nvPr/>
        </p:nvSpPr>
        <p:spPr>
          <a:xfrm>
            <a:off x="6025895" y="2971800"/>
            <a:ext cx="548640" cy="640080"/>
          </a:xfrm>
          <a:prstGeom prst="rect">
            <a:avLst/>
          </a:prstGeom>
          <a:noFill/>
        </p:spPr>
        <p:txBody>
          <a:bodyPr wrap="square" anchor="t" lIns="0" rIns="0" tIns="0" bIns="0">
            <a:spAutoFit/>
          </a:bodyPr>
          <a:lstStyle/>
          <a:p>
            <a:pPr algn="ctr">
              <a:lnSpc>
                <a:spcPct val="108000"/>
              </a:lnSpc>
              <a:spcAft>
                <a:spcPts val="800"/>
              </a:spcAft>
            </a:pPr>
            <a:r>
              <a:rPr sz="3600" b="0">
                <a:solidFill>
                  <a:srgbClr val="60A5FA"/>
                </a:solidFill>
                <a:latin typeface="Segoe UI"/>
              </a:rPr>
              <a:t>›</a:t>
            </a:r>
          </a:p>
        </p:txBody>
      </p:sp>
      <p:sp>
        <p:nvSpPr>
          <p:cNvPr id="13" name="Rounded Rectangle 12"/>
          <p:cNvSpPr/>
          <p:nvPr/>
        </p:nvSpPr>
        <p:spPr>
          <a:xfrm>
            <a:off x="6501383" y="2377440"/>
            <a:ext cx="2331720" cy="19202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1383" y="2606040"/>
            <a:ext cx="2331720" cy="640080"/>
          </a:xfrm>
          <a:prstGeom prst="rect">
            <a:avLst/>
          </a:prstGeom>
          <a:noFill/>
        </p:spPr>
        <p:txBody>
          <a:bodyPr wrap="square" anchor="t" lIns="0" rIns="0" tIns="0" bIns="0">
            <a:spAutoFit/>
          </a:bodyPr>
          <a:lstStyle/>
          <a:p>
            <a:pPr algn="ctr">
              <a:lnSpc>
                <a:spcPct val="108000"/>
              </a:lnSpc>
              <a:spcAft>
                <a:spcPts val="800"/>
              </a:spcAft>
            </a:pPr>
            <a:r>
              <a:rPr sz="3000" b="1">
                <a:solidFill>
                  <a:srgbClr val="60A5FA"/>
                </a:solidFill>
                <a:latin typeface="Consolas"/>
              </a:rPr>
              <a:t>3</a:t>
            </a:r>
          </a:p>
        </p:txBody>
      </p:sp>
      <p:sp>
        <p:nvSpPr>
          <p:cNvPr id="15" name="TextBox 14"/>
          <p:cNvSpPr txBox="1"/>
          <p:nvPr/>
        </p:nvSpPr>
        <p:spPr>
          <a:xfrm>
            <a:off x="6638544" y="3200400"/>
            <a:ext cx="2057400" cy="640080"/>
          </a:xfrm>
          <a:prstGeom prst="rect">
            <a:avLst/>
          </a:prstGeom>
          <a:noFill/>
        </p:spPr>
        <p:txBody>
          <a:bodyPr wrap="square" anchor="t" lIns="0" rIns="0" tIns="0" bIns="0">
            <a:spAutoFit/>
          </a:bodyPr>
          <a:lstStyle/>
          <a:p>
            <a:pPr algn="ctr">
              <a:lnSpc>
                <a:spcPct val="108000"/>
              </a:lnSpc>
              <a:spcAft>
                <a:spcPts val="800"/>
              </a:spcAft>
            </a:pPr>
            <a:r>
              <a:rPr sz="2100" b="1">
                <a:solidFill>
                  <a:srgbClr val="F1F5F9"/>
                </a:solidFill>
                <a:latin typeface="Segoe UI"/>
              </a:rPr>
              <a:t>8 models vote</a:t>
            </a:r>
          </a:p>
        </p:txBody>
      </p:sp>
      <p:sp>
        <p:nvSpPr>
          <p:cNvPr id="16" name="TextBox 15"/>
          <p:cNvSpPr txBox="1"/>
          <p:nvPr/>
        </p:nvSpPr>
        <p:spPr>
          <a:xfrm>
            <a:off x="6638544" y="3794760"/>
            <a:ext cx="2057400" cy="502920"/>
          </a:xfrm>
          <a:prstGeom prst="rect">
            <a:avLst/>
          </a:prstGeom>
          <a:noFill/>
        </p:spPr>
        <p:txBody>
          <a:bodyPr wrap="square" anchor="t" lIns="0" rIns="0" tIns="0" bIns="0">
            <a:spAutoFit/>
          </a:bodyPr>
          <a:lstStyle/>
          <a:p>
            <a:pPr algn="ctr">
              <a:lnSpc>
                <a:spcPct val="108000"/>
              </a:lnSpc>
              <a:spcAft>
                <a:spcPts val="800"/>
              </a:spcAft>
            </a:pPr>
            <a:r>
              <a:rPr sz="1500" b="0">
                <a:solidFill>
                  <a:srgbClr val="94A3B8"/>
                </a:solidFill>
                <a:latin typeface="Segoe UI"/>
              </a:rPr>
              <a:t>each sees different patients</a:t>
            </a:r>
          </a:p>
        </p:txBody>
      </p:sp>
      <p:sp>
        <p:nvSpPr>
          <p:cNvPr id="17" name="TextBox 16"/>
          <p:cNvSpPr txBox="1"/>
          <p:nvPr/>
        </p:nvSpPr>
        <p:spPr>
          <a:xfrm>
            <a:off x="8887968" y="2971800"/>
            <a:ext cx="548640" cy="640080"/>
          </a:xfrm>
          <a:prstGeom prst="rect">
            <a:avLst/>
          </a:prstGeom>
          <a:noFill/>
        </p:spPr>
        <p:txBody>
          <a:bodyPr wrap="square" anchor="t" lIns="0" rIns="0" tIns="0" bIns="0">
            <a:spAutoFit/>
          </a:bodyPr>
          <a:lstStyle/>
          <a:p>
            <a:pPr algn="ctr">
              <a:lnSpc>
                <a:spcPct val="108000"/>
              </a:lnSpc>
              <a:spcAft>
                <a:spcPts val="800"/>
              </a:spcAft>
            </a:pPr>
            <a:r>
              <a:rPr sz="3600" b="0">
                <a:solidFill>
                  <a:srgbClr val="60A5FA"/>
                </a:solidFill>
                <a:latin typeface="Segoe UI"/>
              </a:rPr>
              <a:t>›</a:t>
            </a:r>
          </a:p>
        </p:txBody>
      </p:sp>
      <p:sp>
        <p:nvSpPr>
          <p:cNvPr id="18" name="Rounded Rectangle 17"/>
          <p:cNvSpPr/>
          <p:nvPr/>
        </p:nvSpPr>
        <p:spPr>
          <a:xfrm>
            <a:off x="9363456" y="2377440"/>
            <a:ext cx="2331720" cy="19202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6" y="2606040"/>
            <a:ext cx="2331720" cy="640080"/>
          </a:xfrm>
          <a:prstGeom prst="rect">
            <a:avLst/>
          </a:prstGeom>
          <a:noFill/>
        </p:spPr>
        <p:txBody>
          <a:bodyPr wrap="square" anchor="t" lIns="0" rIns="0" tIns="0" bIns="0">
            <a:spAutoFit/>
          </a:bodyPr>
          <a:lstStyle/>
          <a:p>
            <a:pPr algn="ctr">
              <a:lnSpc>
                <a:spcPct val="108000"/>
              </a:lnSpc>
              <a:spcAft>
                <a:spcPts val="800"/>
              </a:spcAft>
            </a:pPr>
            <a:r>
              <a:rPr sz="3000" b="1">
                <a:solidFill>
                  <a:srgbClr val="60A5FA"/>
                </a:solidFill>
                <a:latin typeface="Consolas"/>
              </a:rPr>
              <a:t>4</a:t>
            </a:r>
          </a:p>
        </p:txBody>
      </p:sp>
      <p:sp>
        <p:nvSpPr>
          <p:cNvPr id="20" name="TextBox 19"/>
          <p:cNvSpPr txBox="1"/>
          <p:nvPr/>
        </p:nvSpPr>
        <p:spPr>
          <a:xfrm>
            <a:off x="9500616" y="3200400"/>
            <a:ext cx="2057400" cy="640080"/>
          </a:xfrm>
          <a:prstGeom prst="rect">
            <a:avLst/>
          </a:prstGeom>
          <a:noFill/>
        </p:spPr>
        <p:txBody>
          <a:bodyPr wrap="square" anchor="t" lIns="0" rIns="0" tIns="0" bIns="0">
            <a:spAutoFit/>
          </a:bodyPr>
          <a:lstStyle/>
          <a:p>
            <a:pPr algn="ctr">
              <a:lnSpc>
                <a:spcPct val="108000"/>
              </a:lnSpc>
              <a:spcAft>
                <a:spcPts val="800"/>
              </a:spcAft>
            </a:pPr>
            <a:r>
              <a:rPr sz="2100" b="1">
                <a:solidFill>
                  <a:srgbClr val="F1F5F9"/>
                </a:solidFill>
                <a:latin typeface="Segoe UI"/>
              </a:rPr>
              <a:t>A probability</a:t>
            </a:r>
          </a:p>
        </p:txBody>
      </p:sp>
      <p:sp>
        <p:nvSpPr>
          <p:cNvPr id="21" name="TextBox 20"/>
          <p:cNvSpPr txBox="1"/>
          <p:nvPr/>
        </p:nvSpPr>
        <p:spPr>
          <a:xfrm>
            <a:off x="9500616" y="3794760"/>
            <a:ext cx="2057400" cy="502920"/>
          </a:xfrm>
          <a:prstGeom prst="rect">
            <a:avLst/>
          </a:prstGeom>
          <a:noFill/>
        </p:spPr>
        <p:txBody>
          <a:bodyPr wrap="square" anchor="t" lIns="0" rIns="0" tIns="0" bIns="0">
            <a:spAutoFit/>
          </a:bodyPr>
          <a:lstStyle/>
          <a:p>
            <a:pPr algn="ctr">
              <a:lnSpc>
                <a:spcPct val="108000"/>
              </a:lnSpc>
              <a:spcAft>
                <a:spcPts val="800"/>
              </a:spcAft>
            </a:pPr>
            <a:r>
              <a:rPr sz="1500" b="0">
                <a:solidFill>
                  <a:srgbClr val="94A3B8"/>
                </a:solidFill>
                <a:latin typeface="Segoe UI"/>
              </a:rPr>
              <a:t>calibrated, with a range</a:t>
            </a:r>
          </a:p>
        </p:txBody>
      </p:sp>
      <p:sp>
        <p:nvSpPr>
          <p:cNvPr id="22" name="TextBox 21"/>
          <p:cNvSpPr txBox="1"/>
          <p:nvPr/>
        </p:nvSpPr>
        <p:spPr>
          <a:xfrm>
            <a:off x="777240" y="4892040"/>
            <a:ext cx="10515600" cy="1188720"/>
          </a:xfrm>
          <a:prstGeom prst="rect">
            <a:avLst/>
          </a:prstGeom>
          <a:noFill/>
        </p:spPr>
        <p:txBody>
          <a:bodyPr wrap="square" anchor="t" lIns="0" rIns="0" tIns="0" bIns="0">
            <a:spAutoFit/>
          </a:bodyPr>
          <a:lstStyle/>
          <a:p>
            <a:pPr algn="l">
              <a:lnSpc>
                <a:spcPct val="108000"/>
              </a:lnSpc>
              <a:spcAft>
                <a:spcPts val="800"/>
              </a:spcAft>
            </a:pPr>
            <a:r>
              <a:rPr sz="2400" b="0">
                <a:solidFill>
                  <a:srgbClr val="F1F5F9"/>
                </a:solidFill>
                <a:latin typeface="Segoe UI"/>
              </a:rPr>
              <a:t>Nothing is hidden. Each step leaves a record a clinician can audit.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It even scores how sure it is.</a:t>
            </a:r>
          </a:p>
        </p:txBody>
      </p:sp>
      <p:sp>
        <p:nvSpPr>
          <p:cNvPr id="3" name="Rounded Rectangle 2"/>
          <p:cNvSpPr/>
          <p:nvPr/>
        </p:nvSpPr>
        <p:spPr>
          <a:xfrm>
            <a:off x="777240" y="1645920"/>
            <a:ext cx="6126480" cy="3794760"/>
          </a:xfrm>
          <a:prstGeom prst="roundRect">
            <a:avLst>
              <a:gd name="adj" fmla="val 5000"/>
            </a:avLst>
          </a:prstGeom>
          <a:solidFill>
            <a:srgbClr val="0B101E"/>
          </a:solid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94A3B8"/>
                </a:solidFill>
                <a:latin typeface="Consolas"/>
              </a:rPr>
              <a:t># eight models each make a call</a:t>
            </a:r>
          </a:p>
        </p:txBody>
      </p:sp>
      <p:sp>
        <p:nvSpPr>
          <p:cNvPr id="5" name="TextBox 4"/>
          <p:cNvSpPr txBox="1"/>
          <p:nvPr/>
        </p:nvSpPr>
        <p:spPr>
          <a:xfrm>
            <a:off x="1005840" y="224028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F1F5F9"/>
                </a:solidFill>
                <a:latin typeface="Consolas"/>
              </a:rPr>
              <a:t>votes   = [m.predict(X) for m in self.models]</a:t>
            </a:r>
          </a:p>
        </p:txBody>
      </p:sp>
      <p:sp>
        <p:nvSpPr>
          <p:cNvPr id="6" name="TextBox 5"/>
          <p:cNvSpPr txBox="1"/>
          <p:nvPr/>
        </p:nvSpPr>
        <p:spPr>
          <a:xfrm>
            <a:off x="1005840" y="265176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F1F5F9"/>
                </a:solidFill>
                <a:latin typeface="Consolas"/>
              </a:rPr>
              <a:t>mean    = float(np.mean(votes))        # the estimate</a:t>
            </a:r>
          </a:p>
        </p:txBody>
      </p:sp>
      <p:sp>
        <p:nvSpPr>
          <p:cNvPr id="7" name="TextBox 6"/>
          <p:cNvSpPr txBox="1"/>
          <p:nvPr/>
        </p:nvSpPr>
        <p:spPr>
          <a:xfrm>
            <a:off x="1005840" y="306324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F1F5F9"/>
                </a:solidFill>
                <a:latin typeface="Consolas"/>
              </a:rPr>
              <a:t>spread  = float(np.std(votes))         # the disagreement</a:t>
            </a:r>
          </a:p>
        </p:txBody>
      </p:sp>
      <p:sp>
        <p:nvSpPr>
          <p:cNvPr id="8" name="TextBox 7"/>
          <p:cNvSpPr txBox="1"/>
          <p:nvPr/>
        </p:nvSpPr>
        <p:spPr>
          <a:xfrm>
            <a:off x="1005840" y="388620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94A3B8"/>
                </a:solidFill>
                <a:latin typeface="Consolas"/>
              </a:rPr>
              <a:t># disagreement becomes the band on screen</a:t>
            </a:r>
          </a:p>
        </p:txBody>
      </p:sp>
      <p:sp>
        <p:nvSpPr>
          <p:cNvPr id="9" name="TextBox 8"/>
          <p:cNvSpPr txBox="1"/>
          <p:nvPr/>
        </p:nvSpPr>
        <p:spPr>
          <a:xfrm>
            <a:off x="1005840" y="429768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F1F5F9"/>
                </a:solidFill>
                <a:latin typeface="Consolas"/>
              </a:rPr>
              <a:t>low, high = calibrate(mean - 2*spread,</a:t>
            </a:r>
          </a:p>
        </p:txBody>
      </p:sp>
      <p:sp>
        <p:nvSpPr>
          <p:cNvPr id="10" name="TextBox 9"/>
          <p:cNvSpPr txBox="1"/>
          <p:nvPr/>
        </p:nvSpPr>
        <p:spPr>
          <a:xfrm>
            <a:off x="1005840" y="4709160"/>
            <a:ext cx="5669280" cy="384048"/>
          </a:xfrm>
          <a:prstGeom prst="rect">
            <a:avLst/>
          </a:prstGeom>
          <a:noFill/>
        </p:spPr>
        <p:txBody>
          <a:bodyPr wrap="square" anchor="t" lIns="0" rIns="0" tIns="0" bIns="0">
            <a:spAutoFit/>
          </a:bodyPr>
          <a:lstStyle/>
          <a:p>
            <a:pPr algn="l">
              <a:lnSpc>
                <a:spcPct val="108000"/>
              </a:lnSpc>
              <a:spcAft>
                <a:spcPts val="0"/>
              </a:spcAft>
            </a:pPr>
            <a:r>
              <a:rPr sz="1300" b="0">
                <a:solidFill>
                  <a:srgbClr val="F1F5F9"/>
                </a:solidFill>
                <a:latin typeface="Consolas"/>
              </a:rPr>
              <a:t>              mean + 2*spread)</a:t>
            </a:r>
          </a:p>
        </p:txBody>
      </p:sp>
      <p:sp>
        <p:nvSpPr>
          <p:cNvPr id="11" name="TextBox 10"/>
          <p:cNvSpPr txBox="1"/>
          <p:nvPr/>
        </p:nvSpPr>
        <p:spPr>
          <a:xfrm>
            <a:off x="822960" y="5623560"/>
            <a:ext cx="5943600" cy="457200"/>
          </a:xfrm>
          <a:prstGeom prst="rect">
            <a:avLst/>
          </a:prstGeom>
          <a:noFill/>
        </p:spPr>
        <p:txBody>
          <a:bodyPr wrap="square" anchor="t" lIns="0" rIns="0" tIns="0" bIns="0">
            <a:spAutoFit/>
          </a:bodyPr>
          <a:lstStyle/>
          <a:p>
            <a:pPr algn="l">
              <a:lnSpc>
                <a:spcPct val="108000"/>
              </a:lnSpc>
              <a:spcAft>
                <a:spcPts val="800"/>
              </a:spcAft>
            </a:pPr>
            <a:r>
              <a:rPr sz="1300" b="0">
                <a:solidFill>
                  <a:srgbClr val="94A3B8"/>
                </a:solidFill>
                <a:latin typeface="Consolas"/>
              </a:rPr>
              <a:t>backend/ensemble.py</a:t>
            </a:r>
          </a:p>
        </p:txBody>
      </p:sp>
      <p:sp>
        <p:nvSpPr>
          <p:cNvPr id="12" name="TextBox 11"/>
          <p:cNvSpPr txBox="1"/>
          <p:nvPr/>
        </p:nvSpPr>
        <p:spPr>
          <a:xfrm>
            <a:off x="7360920" y="1828800"/>
            <a:ext cx="4114800" cy="3840480"/>
          </a:xfrm>
          <a:prstGeom prst="rect">
            <a:avLst/>
          </a:prstGeom>
          <a:noFill/>
        </p:spPr>
        <p:txBody>
          <a:bodyPr wrap="square" anchor="t" lIns="0" rIns="0" tIns="0" bIns="0">
            <a:spAutoFit/>
          </a:bodyPr>
          <a:lstStyle/>
          <a:p>
            <a:pPr algn="l">
              <a:lnSpc>
                <a:spcPct val="108000"/>
              </a:lnSpc>
              <a:spcAft>
                <a:spcPts val="2200"/>
              </a:spcAft>
            </a:pPr>
            <a:r>
              <a:rPr sz="2400" b="0">
                <a:solidFill>
                  <a:srgbClr val="F1F5F9"/>
                </a:solidFill>
                <a:latin typeface="Segoe UI"/>
              </a:rPr>
              <a:t>Eight models vote, we take the average.</a:t>
            </a:r>
          </a:p>
          <a:p>
            <a:pPr algn="l">
              <a:lnSpc>
                <a:spcPct val="108000"/>
              </a:lnSpc>
              <a:spcAft>
                <a:spcPts val="2200"/>
              </a:spcAft>
            </a:pPr>
            <a:r>
              <a:rPr sz="2400" b="0">
                <a:solidFill>
                  <a:srgbClr val="F1F5F9"/>
                </a:solidFill>
                <a:latin typeface="Segoe UI"/>
              </a:rPr>
              <a:t>Their disagreement becomes the band.</a:t>
            </a:r>
          </a:p>
          <a:p>
            <a:pPr algn="l">
              <a:lnSpc>
                <a:spcPct val="108000"/>
              </a:lnSpc>
              <a:spcAft>
                <a:spcPts val="2200"/>
              </a:spcAft>
            </a:pPr>
            <a:r>
              <a:rPr sz="2400" b="0">
                <a:solidFill>
                  <a:srgbClr val="F1F5F9"/>
                </a:solidFill>
                <a:latin typeface="Segoe UI"/>
              </a:rPr>
              <a:t>Wide band means slow down and look closer.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Tested on patients it never saw, the numbers hold.</a:t>
            </a:r>
          </a:p>
        </p:txBody>
      </p:sp>
      <p:pic>
        <p:nvPicPr>
          <p:cNvPr id="3" name="Picture 2" descr="chart_calibration.png"/>
          <p:cNvPicPr>
            <a:picLocks noChangeAspect="1"/>
          </p:cNvPicPr>
          <p:nvPr/>
        </p:nvPicPr>
        <p:blipFill>
          <a:blip r:embed="rId2"/>
          <a:stretch>
            <a:fillRect/>
          </a:stretch>
        </p:blipFill>
        <p:spPr>
          <a:xfrm>
            <a:off x="731520" y="1691640"/>
            <a:ext cx="5760720" cy="4136017"/>
          </a:xfrm>
          <a:prstGeom prst="rect">
            <a:avLst/>
          </a:prstGeom>
        </p:spPr>
      </p:pic>
      <p:sp>
        <p:nvSpPr>
          <p:cNvPr id="4" name="Rectangle 3"/>
          <p:cNvSpPr/>
          <p:nvPr/>
        </p:nvSpPr>
        <p:spPr>
          <a:xfrm>
            <a:off x="731520" y="1691640"/>
            <a:ext cx="5760720" cy="4136016"/>
          </a:xfrm>
          <a:prstGeom prst="rect">
            <a:avLst/>
          </a:prstGeom>
          <a:noFill/>
          <a:ln w="12700">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1965960"/>
            <a:ext cx="4572000" cy="3931920"/>
          </a:xfrm>
          <a:prstGeom prst="rect">
            <a:avLst/>
          </a:prstGeom>
          <a:noFill/>
        </p:spPr>
        <p:txBody>
          <a:bodyPr wrap="square" anchor="t" lIns="0" rIns="0" tIns="0" bIns="0">
            <a:spAutoFit/>
          </a:bodyPr>
          <a:lstStyle/>
          <a:p>
            <a:pPr algn="l">
              <a:lnSpc>
                <a:spcPct val="108000"/>
              </a:lnSpc>
              <a:spcAft>
                <a:spcPts val="2400"/>
              </a:spcAft>
            </a:pPr>
            <a:r>
              <a:rPr sz="2500" b="0">
                <a:solidFill>
                  <a:srgbClr val="F1F5F9"/>
                </a:solidFill>
                <a:latin typeface="Segoe UI"/>
              </a:rPr>
              <a:t>When it said 60%, about 60% failed.</a:t>
            </a:r>
          </a:p>
          <a:p>
            <a:pPr algn="l">
              <a:lnSpc>
                <a:spcPct val="108000"/>
              </a:lnSpc>
              <a:spcAft>
                <a:spcPts val="2400"/>
              </a:spcAft>
            </a:pPr>
            <a:r>
              <a:rPr sz="2500" b="0">
                <a:solidFill>
                  <a:srgbClr val="F1F5F9"/>
                </a:solidFill>
                <a:latin typeface="Segoe UI"/>
              </a:rPr>
              <a:t>Graded on 5,213 patients it never trained on.</a:t>
            </a:r>
          </a:p>
          <a:p>
            <a:pPr algn="l">
              <a:lnSpc>
                <a:spcPct val="108000"/>
              </a:lnSpc>
              <a:spcAft>
                <a:spcPts val="2400"/>
              </a:spcAft>
            </a:pPr>
            <a:r>
              <a:rPr sz="2500" b="0">
                <a:solidFill>
                  <a:srgbClr val="F1F5F9"/>
                </a:solidFill>
                <a:latin typeface="Segoe UI"/>
              </a:rPr>
              <a:t>Those limits are printed inside the app.</a:t>
            </a:r>
          </a:p>
        </p:txBody>
      </p:sp>
      <p:sp>
        <p:nvSpPr>
          <p:cNvPr id="6" name="TextBox 5"/>
          <p:cNvSpPr txBox="1"/>
          <p:nvPr/>
        </p:nvSpPr>
        <p:spPr>
          <a:xfrm>
            <a:off x="685800" y="6446520"/>
            <a:ext cx="10835640" cy="320040"/>
          </a:xfrm>
          <a:prstGeom prst="rect">
            <a:avLst/>
          </a:prstGeom>
          <a:noFill/>
        </p:spPr>
        <p:txBody>
          <a:bodyPr wrap="square" anchor="t" lIns="0" rIns="0" tIns="0" bIns="0">
            <a:spAutoFit/>
          </a:bodyPr>
          <a:lstStyle/>
          <a:p>
            <a:pPr algn="l">
              <a:lnSpc>
                <a:spcPct val="108000"/>
              </a:lnSpc>
              <a:spcAft>
                <a:spcPts val="800"/>
              </a:spcAft>
            </a:pPr>
            <a:r>
              <a:rPr sz="1200" b="0">
                <a:solidFill>
                  <a:srgbClr val="94A3B8"/>
                </a:solidFill>
                <a:latin typeface="Segoe UI"/>
              </a:rPr>
              <a:t>Source: backend/artifacts/model_metrics.json. ROC AUC 0.78, calibration error 0.017.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6720840"/>
            <a:ext cx="12191695" cy="1371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920240"/>
            <a:ext cx="10789920" cy="1188720"/>
          </a:xfrm>
          <a:prstGeom prst="rect">
            <a:avLst/>
          </a:prstGeom>
          <a:noFill/>
        </p:spPr>
        <p:txBody>
          <a:bodyPr wrap="square" anchor="t" lIns="0" rIns="0" tIns="0" bIns="0">
            <a:spAutoFit/>
          </a:bodyPr>
          <a:lstStyle/>
          <a:p>
            <a:pPr algn="l">
              <a:lnSpc>
                <a:spcPct val="108000"/>
              </a:lnSpc>
              <a:spcAft>
                <a:spcPts val="800"/>
              </a:spcAft>
            </a:pPr>
            <a:r>
              <a:rPr sz="4400" b="1">
                <a:solidFill>
                  <a:srgbClr val="F1F5F9"/>
                </a:solidFill>
                <a:latin typeface="Segoe UI"/>
              </a:rPr>
              <a:t>Doctors should not have to guess alone.</a:t>
            </a:r>
          </a:p>
        </p:txBody>
      </p:sp>
      <p:sp>
        <p:nvSpPr>
          <p:cNvPr id="4" name="TextBox 3"/>
          <p:cNvSpPr txBox="1"/>
          <p:nvPr/>
        </p:nvSpPr>
        <p:spPr>
          <a:xfrm>
            <a:off x="713232" y="3291840"/>
            <a:ext cx="10515600" cy="1463040"/>
          </a:xfrm>
          <a:prstGeom prst="rect">
            <a:avLst/>
          </a:prstGeom>
          <a:noFill/>
        </p:spPr>
        <p:txBody>
          <a:bodyPr wrap="square" anchor="t" lIns="0" rIns="0" tIns="0" bIns="0">
            <a:spAutoFit/>
          </a:bodyPr>
          <a:lstStyle/>
          <a:p>
            <a:pPr algn="l">
              <a:lnSpc>
                <a:spcPct val="108000"/>
              </a:lnSpc>
              <a:spcAft>
                <a:spcPts val="1400"/>
              </a:spcAft>
            </a:pPr>
            <a:r>
              <a:rPr sz="2600" b="0">
                <a:solidFill>
                  <a:srgbClr val="94A3B8"/>
                </a:solidFill>
                <a:latin typeface="Segoe UI"/>
              </a:rPr>
              <a:t>Free public data. Open code. Real patients.</a:t>
            </a:r>
          </a:p>
          <a:p>
            <a:pPr algn="l">
              <a:lnSpc>
                <a:spcPct val="108000"/>
              </a:lnSpc>
              <a:spcAft>
                <a:spcPts val="1400"/>
              </a:spcAft>
            </a:pPr>
            <a:r>
              <a:rPr sz="2600" b="0">
                <a:solidFill>
                  <a:srgbClr val="94A3B8"/>
                </a:solidFill>
                <a:latin typeface="Segoe UI"/>
              </a:rPr>
              <a:t>Watch it live: load a demo patient and judge for yourself.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502920"/>
            <a:ext cx="10835640" cy="914400"/>
          </a:xfrm>
          <a:prstGeom prst="rect">
            <a:avLst/>
          </a:prstGeom>
          <a:noFill/>
        </p:spPr>
        <p:txBody>
          <a:bodyPr wrap="square" anchor="t" lIns="0" rIns="0" tIns="0" bIns="0">
            <a:spAutoFit/>
          </a:bodyPr>
          <a:lstStyle/>
          <a:p>
            <a:pPr algn="l">
              <a:lnSpc>
                <a:spcPct val="100000"/>
              </a:lnSpc>
              <a:spcAft>
                <a:spcPts val="800"/>
              </a:spcAft>
            </a:pPr>
            <a:r>
              <a:rPr sz="4000" b="1">
                <a:solidFill>
                  <a:srgbClr val="F1F5F9"/>
                </a:solidFill>
                <a:latin typeface="Segoe UI"/>
              </a:rPr>
              <a:t>Sources</a:t>
            </a:r>
          </a:p>
        </p:txBody>
      </p:sp>
      <p:sp>
        <p:nvSpPr>
          <p:cNvPr id="3" name="TextBox 2"/>
          <p:cNvSpPr txBox="1"/>
          <p:nvPr/>
        </p:nvSpPr>
        <p:spPr>
          <a:xfrm>
            <a:off x="777240" y="1783080"/>
            <a:ext cx="10607040" cy="4480560"/>
          </a:xfrm>
          <a:prstGeom prst="rect">
            <a:avLst/>
          </a:prstGeom>
          <a:noFill/>
        </p:spPr>
        <p:txBody>
          <a:bodyPr wrap="square" anchor="t" lIns="0" rIns="0" tIns="0" bIns="0">
            <a:spAutoFit/>
          </a:bodyPr>
          <a:lstStyle/>
          <a:p>
            <a:pPr algn="l">
              <a:lnSpc>
                <a:spcPct val="108000"/>
              </a:lnSpc>
              <a:spcAft>
                <a:spcPts val="1600"/>
              </a:spcAft>
            </a:pPr>
            <a:r>
              <a:rPr sz="2000" b="0">
                <a:solidFill>
                  <a:srgbClr val="94A3B8"/>
                </a:solidFill>
                <a:latin typeface="Segoe UI"/>
              </a:rPr>
              <a:t>Zehir et al. MSK-IMPACT cohort, Nature Medicine 2017, via cBioPortal.</a:t>
            </a:r>
          </a:p>
          <a:p>
            <a:pPr algn="l">
              <a:lnSpc>
                <a:spcPct val="108000"/>
              </a:lnSpc>
              <a:spcAft>
                <a:spcPts val="1600"/>
              </a:spcAft>
            </a:pPr>
            <a:r>
              <a:rPr sz="2000" b="0">
                <a:solidFill>
                  <a:srgbClr val="94A3B8"/>
                </a:solidFill>
                <a:latin typeface="Segoe UI"/>
              </a:rPr>
              <a:t>MSK-CHORD cohort, Nature 2024, PMID 39506116, via cBioPortal.</a:t>
            </a:r>
          </a:p>
          <a:p>
            <a:pPr algn="l">
              <a:lnSpc>
                <a:spcPct val="108000"/>
              </a:lnSpc>
              <a:spcAft>
                <a:spcPts val="1600"/>
              </a:spcAft>
            </a:pPr>
            <a:r>
              <a:rPr sz="2000" b="0">
                <a:solidFill>
                  <a:srgbClr val="94A3B8"/>
                </a:solidFill>
                <a:latin typeface="Segoe UI"/>
              </a:rPr>
              <a:t>ClinicalTrials.gov API v2, US National Library of Medicine.</a:t>
            </a:r>
          </a:p>
          <a:p>
            <a:pPr algn="l">
              <a:lnSpc>
                <a:spcPct val="108000"/>
              </a:lnSpc>
              <a:spcAft>
                <a:spcPts val="1600"/>
              </a:spcAft>
            </a:pPr>
            <a:r>
              <a:rPr sz="2000" b="0">
                <a:solidFill>
                  <a:srgbClr val="94A3B8"/>
                </a:solidFill>
                <a:latin typeface="Segoe UI"/>
              </a:rPr>
              <a:t>Evaluation: backend/artifacts/model_metrics.json, test n = 5,213.</a:t>
            </a:r>
          </a:p>
          <a:p>
            <a:pPr algn="l">
              <a:lnSpc>
                <a:spcPct val="108000"/>
              </a:lnSpc>
              <a:spcAft>
                <a:spcPts val="1600"/>
              </a:spcAft>
            </a:pPr>
            <a:r>
              <a:rPr sz="2000" b="0">
                <a:solidFill>
                  <a:srgbClr val="94A3B8"/>
                </a:solidFill>
                <a:latin typeface="Segoe UI"/>
              </a:rPr>
              <a:t>Screenshots captured from the running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