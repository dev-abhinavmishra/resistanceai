
<file path=[Content_Types].xml><?xml version="1.0" encoding="utf-8"?>
<Types xmlns="http://schemas.openxmlformats.org/package/2006/content-types">
  <Override PartName="/ppt/slides/slide6.xml" ContentType="application/vnd.openxmlformats-officedocument.presentationml.slide+xml"/>
  <Override PartName="/ppt/slideLayouts/slideLayout8.xml" ContentType="application/vnd.openxmlformats-officedocument.presentationml.slideLayout+xml"/>
  <Override PartName="/ppt/notesSlides/notesSlide2.xml" ContentType="application/vnd.openxmlformats-officedocument.presentationml.notesSlide+xml"/>
  <Override PartName="/ppt/slideMasters/slideMaster1.xml" ContentType="application/vnd.openxmlformats-officedocument.presentationml.slideMaster+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slides/slide1.xml" ContentType="application/vnd.openxmlformats-officedocument.presentationml.slide+xml"/>
  <Override PartName="/ppt/slides/slide2.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notesMasters/notesMaster1.xml" ContentType="application/vnd.openxmlformats-officedocument.presentationml.notesMaster+xml"/>
  <Override PartName="/ppt/slideLayouts/slideLayout1.xml" ContentType="application/vnd.openxmlformats-officedocument.presentationml.slideLayout+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10.xml" ContentType="application/vnd.openxmlformats-officedocument.presentationml.notes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ppt/slides/slide5.xml" ContentType="application/vnd.openxmlformats-officedocument.presentationml.slide+xml"/>
  <Override PartName="/ppt/slideLayouts/slideLayout7.xml" ContentType="application/vnd.openxmlformats-officedocument.presentationml.slideLayout+xml"/>
  <Override PartName="/ppt/notesSlides/notesSlide1.xml" ContentType="application/vnd.openxmlformats-officedocument.presentationml.notesSlide+xml"/>
  <Override PartName="/ppt/notesSlides/notesSlide3.xml" ContentType="application/vnd.openxmlformats-officedocument.presentationml.notesSlide+xml"/>
  <Default Extension="png" ContentType="image/png"/>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xmlns="" val="0"/>
    </p:ext>
    <p:ext uri="{D31A062A-798A-4329-ABDD-BBA856620510}">
      <p14:defaultImageDpi xmlns:p14="http://schemas.microsoft.com/office/powerpoint/2010/main" xmlns=""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13" d="100"/>
          <a:sy n="113" d="100"/>
        </p:scale>
        <p:origin x="-474" y="-102"/>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5E96276-6EFE-48D4-B6CC-E1CDA2BB470D}" type="datetimeFigureOut">
              <a:rPr lang="en-US" smtClean="0"/>
              <a:t>10/16/2026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4522897-759F-4921-BFD6-9C0BB686AD6B}"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Hi, I'm Abhinav. Doctors who treat cancer face a hard problem: even with a tumor's DNA report in hand, it is hard to know which drug will actually work. I built a small app that estimates that up front. In about three minutes I will show you the whole thing, live.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quick primer for anyone without a biology background. Cancer begins when a cell's DNA is damaged and the cell grows out of control. Clinics now sequence a tumor's DNA, and for many of the errors they find, called mutations, there is a drug designed to hit that exact weakness. The glossary on the right gives you every word you need for the rest of this deck.</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When a tumor report comes back, a panel of specialists called a molecular tumor board can review it and recommend a drug. Those panels mostly exist at large academic cancer centers. The oncologist, the cancer doctor treating most patients, is often reading that report alone under time pressure, and a drug that cannot work still costs the patient weeks on the clock.</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Instead of writing rules by hand, I trained the model on two public datasets from Memorial Sloan Kettering Cancer Center: MSK-IMPACT and MSK-CHORD. After cleaning, 26,064 patients had both a sequenced tumor and a recorded outcome. They were split three ways: fifteen thousand to train on, five thousand to calibrate the score, and five thousand the model never touched, reserved for the report card you will see later.</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it is running. I load a real lung cancer patient and the app scores a 53 percent chance the next treatment fails, places that patient at the 32nd percentile of everyone on record, and names two biological escape routes it found. Notice the band beside the score: the model is honest that this profile is unusual, and unusual is exactly when a doctor should slow down. The link at the bottom is the public demo.</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Judges and doctors ask the same question: why this number. The chart on the left removes each feature one at a time and measures how much the score moves. The cards on the right name biological escape routes the tumor might use, and each card cites the specific mutation it found in this patient's DNA.</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risk score alone does not help anyone act. So the app maps the patient's mutations to treatment regimens with their evidence grades, searches ClinicalTrials.gov live for recruiting studies, and shows what actually happened to the eight most similar patients in the data.</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Technically the pipeline is four steps. The DNA report is cleaned into a fixed list of 201 signals covering mutations, copy number changes, tumor mutation burden, MSI status, stage, smoking and purity. Eight gradient boosting models, each trained on a different slice of patients, each make a prediction. A final calibration step turns their average vote into a true probability, and how much they disagree becomes the honest band on screen.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honest part, in the actual code. The eight models vote, their average is calibrated into a probability, and how much they disagree sets the width of the band on screen. It is a disagreement measure, not a guarantee, and the app never pretends to be sure when it is not.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more spots worth a read. The twin engine measures how different every patient's biology is and keeps the closest neighbors, so the similar patients you saw earlier are real matches. And in the analytics code, when a question matches fewer than five patients it returns only the count, so no small cohort can be picked apart.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report card on 5,213 patients the model never trained on. Each dot asks the same question: when the model predicted a number, what share of patients actually failed. The dots sit near the diagonal, which is what honest probability looks like. Performance holds across cancer types, from 0.81 on breast cancer down to 0.71 on pancreatic, and across both source datasets. It is not a crystal ball, and the app says that on the screen.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That is ResistanceAI. It gives a doctor the kind of read an expert panel would give, in seconds, with the reasoning left on the screen. Everything you saw is the running app on real public data, and the button on screen opens the public demo at resistanceai.streamlit.app. Thanks for watching.</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pPr/>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pPr/>
              <a:t>‹#›</a:t>
            </a:fld>
            <a:endParaRPr lang="en-US"/>
          </a:p>
        </p:txBody>
      </p:sp>
    </p:spTree>
    <p:extLst>
      <p:ext uri="{BB962C8B-B14F-4D97-AF65-F5344CB8AC3E}">
        <p14:creationId xmlns:p14="http://schemas.microsoft.com/office/powerpoint/2010/main" xmlns=""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pPr/>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pPr/>
              <a:t>‹#›</a:t>
            </a:fld>
            <a:endParaRPr lang="en-US"/>
          </a:p>
        </p:txBody>
      </p:sp>
    </p:spTree>
    <p:extLst>
      <p:ext uri="{BB962C8B-B14F-4D97-AF65-F5344CB8AC3E}">
        <p14:creationId xmlns:p14="http://schemas.microsoft.com/office/powerpoint/2010/main" xmlns=""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pPr/>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pPr/>
              <a:t>‹#›</a:t>
            </a:fld>
            <a:endParaRPr lang="en-US"/>
          </a:p>
        </p:txBody>
      </p:sp>
    </p:spTree>
    <p:extLst>
      <p:ext uri="{BB962C8B-B14F-4D97-AF65-F5344CB8AC3E}">
        <p14:creationId xmlns:p14="http://schemas.microsoft.com/office/powerpoint/2010/main" xmlns=""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pPr/>
              <a:t>10/16/2026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pPr/>
              <a:t>‹#›</a:t>
            </a:fld>
            <a:endParaRPr lang="en-US"/>
          </a:p>
        </p:txBody>
      </p:sp>
    </p:spTree>
    <p:extLst>
      <p:ext uri="{BB962C8B-B14F-4D97-AF65-F5344CB8AC3E}">
        <p14:creationId xmlns:p14="http://schemas.microsoft.com/office/powerpoint/2010/main" xmlns=""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pPr/>
              <a:t>10/16/2026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pPr/>
              <a:t>‹#›</a:t>
            </a:fld>
            <a:endParaRPr lang="en-US"/>
          </a:p>
        </p:txBody>
      </p:sp>
    </p:spTree>
    <p:extLst>
      <p:ext uri="{BB962C8B-B14F-4D97-AF65-F5344CB8AC3E}">
        <p14:creationId xmlns:p14="http://schemas.microsoft.com/office/powerpoint/2010/main" xmlns=""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pPr/>
              <a:t>10/16/2026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pPr/>
              <a:t>‹#›</a:t>
            </a:fld>
            <a:endParaRPr lang="en-US"/>
          </a:p>
        </p:txBody>
      </p:sp>
    </p:spTree>
    <p:extLst>
      <p:ext uri="{BB962C8B-B14F-4D97-AF65-F5344CB8AC3E}">
        <p14:creationId xmlns:p14="http://schemas.microsoft.com/office/powerpoint/2010/main" xmlns=""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pPr/>
              <a:t>10/16/2026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pPr/>
              <a:t>‹#›</a:t>
            </a:fld>
            <a:endParaRPr lang="en-US"/>
          </a:p>
        </p:txBody>
      </p:sp>
    </p:spTree>
    <p:extLst>
      <p:ext uri="{BB962C8B-B14F-4D97-AF65-F5344CB8AC3E}">
        <p14:creationId xmlns:p14="http://schemas.microsoft.com/office/powerpoint/2010/main" xmlns=""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pPr/>
              <a:t>10/16/2026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pPr/>
              <a:t>‹#›</a:t>
            </a:fld>
            <a:endParaRPr lang="en-US"/>
          </a:p>
        </p:txBody>
      </p:sp>
    </p:spTree>
    <p:extLst>
      <p:ext uri="{BB962C8B-B14F-4D97-AF65-F5344CB8AC3E}">
        <p14:creationId xmlns:p14="http://schemas.microsoft.com/office/powerpoint/2010/main" xmlns=""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pPr/>
              <a:t>10/16/2026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pPr/>
              <a:t>‹#›</a:t>
            </a:fld>
            <a:endParaRPr lang="en-US"/>
          </a:p>
        </p:txBody>
      </p:sp>
    </p:spTree>
    <p:extLst>
      <p:ext uri="{BB962C8B-B14F-4D97-AF65-F5344CB8AC3E}">
        <p14:creationId xmlns:p14="http://schemas.microsoft.com/office/powerpoint/2010/main" xmlns=""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pPr/>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pPr/>
              <a:t>‹#›</a:t>
            </a:fld>
            <a:endParaRPr lang="en-US"/>
          </a:p>
        </p:txBody>
      </p:sp>
    </p:spTree>
    <p:extLst>
      <p:ext uri="{BB962C8B-B14F-4D97-AF65-F5344CB8AC3E}">
        <p14:creationId xmlns:p14="http://schemas.microsoft.com/office/powerpoint/2010/main" xmlns=""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pPr/>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pPr/>
              <a:t>‹#›</a:t>
            </a:fld>
            <a:endParaRPr lang="en-US"/>
          </a:p>
        </p:txBody>
      </p:sp>
    </p:spTree>
    <p:extLst>
      <p:ext uri="{BB962C8B-B14F-4D97-AF65-F5344CB8AC3E}">
        <p14:creationId xmlns:p14="http://schemas.microsoft.com/office/powerpoint/2010/main" xmlns=""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pPr/>
              <a:t>10/16/2026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pPr/>
              <a:t>‹#›</a:t>
            </a:fld>
            <a:endParaRPr lang="en-US"/>
          </a:p>
        </p:txBody>
      </p:sp>
    </p:spTree>
    <p:extLst>
      <p:ext uri="{BB962C8B-B14F-4D97-AF65-F5344CB8AC3E}">
        <p14:creationId xmlns:p14="http://schemas.microsoft.com/office/powerpoint/2010/main" xmlns=""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resistanceai.streamlit.app" TargetMode="External"/><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hyperlink" Target="https://resistanceai.streamlit.app"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hyperlink" Target="https://resistanceai.streamlit.app" TargetMode="External"/><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A1219"/>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82296"/>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9784080" y="-1737360"/>
            <a:ext cx="4572000" cy="4572000"/>
          </a:xfrm>
          <a:prstGeom prst="ellipse">
            <a:avLst/>
          </a:prstGeom>
          <a:noFill/>
          <a:ln w="19050">
            <a:solidFill>
              <a:srgbClr val="154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0881360" y="-640080"/>
            <a:ext cx="2377440" cy="2377440"/>
          </a:xfrm>
          <a:prstGeom prst="ellipse">
            <a:avLst/>
          </a:prstGeom>
          <a:noFill/>
          <a:ln w="19050">
            <a:solidFill>
              <a:srgbClr val="154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713232" y="1618488"/>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69264" y="1554480"/>
            <a:ext cx="6400800" cy="365760"/>
          </a:xfrm>
          <a:prstGeom prst="rect">
            <a:avLst/>
          </a:prstGeom>
          <a:noFill/>
        </p:spPr>
        <p:txBody>
          <a:bodyPr wrap="square" lIns="0" tIns="0" rIns="0" bIns="0" anchor="t">
            <a:spAutoFit/>
          </a:bodyPr>
          <a:lstStyle/>
          <a:p>
            <a:pPr algn="l">
              <a:lnSpc>
                <a:spcPct val="108000"/>
              </a:lnSpc>
              <a:spcAft>
                <a:spcPts val="800"/>
              </a:spcAft>
            </a:pPr>
            <a:r>
              <a:rPr sz="1500" b="1">
                <a:solidFill>
                  <a:srgbClr val="2DD4BF"/>
                </a:solidFill>
                <a:latin typeface="Consolas"/>
              </a:rPr>
              <a:t>CONGRESSIONAL APP CHALLENGE</a:t>
            </a:r>
          </a:p>
        </p:txBody>
      </p:sp>
      <p:sp>
        <p:nvSpPr>
          <p:cNvPr id="7" name="TextBox 6"/>
          <p:cNvSpPr txBox="1"/>
          <p:nvPr/>
        </p:nvSpPr>
        <p:spPr>
          <a:xfrm>
            <a:off x="685800" y="2148840"/>
            <a:ext cx="10789920" cy="1280160"/>
          </a:xfrm>
          <a:prstGeom prst="rect">
            <a:avLst/>
          </a:prstGeom>
          <a:noFill/>
        </p:spPr>
        <p:txBody>
          <a:bodyPr wrap="square" lIns="0" tIns="0" rIns="0" bIns="0" anchor="t">
            <a:spAutoFit/>
          </a:bodyPr>
          <a:lstStyle/>
          <a:p>
            <a:pPr algn="l">
              <a:lnSpc>
                <a:spcPct val="108000"/>
              </a:lnSpc>
              <a:spcAft>
                <a:spcPts val="800"/>
              </a:spcAft>
            </a:pPr>
            <a:r>
              <a:rPr sz="6600" b="1" dirty="0" err="1">
                <a:solidFill>
                  <a:srgbClr val="F2F7F6"/>
                </a:solidFill>
                <a:latin typeface="Georgia"/>
              </a:rPr>
              <a:t>ResistanceAI</a:t>
            </a:r>
            <a:endParaRPr sz="6600" b="1" dirty="0">
              <a:solidFill>
                <a:srgbClr val="F2F7F6"/>
              </a:solidFill>
              <a:latin typeface="Georgia"/>
            </a:endParaRPr>
          </a:p>
        </p:txBody>
      </p:sp>
      <p:sp>
        <p:nvSpPr>
          <p:cNvPr id="8" name="TextBox 7"/>
          <p:cNvSpPr txBox="1"/>
          <p:nvPr/>
        </p:nvSpPr>
        <p:spPr>
          <a:xfrm>
            <a:off x="713232" y="3429000"/>
            <a:ext cx="9875520" cy="1097280"/>
          </a:xfrm>
          <a:prstGeom prst="rect">
            <a:avLst/>
          </a:prstGeom>
          <a:noFill/>
        </p:spPr>
        <p:txBody>
          <a:bodyPr wrap="square" lIns="0" tIns="0" rIns="0" bIns="0" anchor="t">
            <a:spAutoFit/>
          </a:bodyPr>
          <a:lstStyle/>
          <a:p>
            <a:pPr algn="l">
              <a:lnSpc>
                <a:spcPct val="115000"/>
              </a:lnSpc>
              <a:spcAft>
                <a:spcPts val="800"/>
              </a:spcAft>
            </a:pPr>
            <a:r>
              <a:rPr sz="3000" b="0" dirty="0" smtClean="0">
                <a:solidFill>
                  <a:srgbClr val="8CA3AD"/>
                </a:solidFill>
                <a:latin typeface="Georgia"/>
              </a:rPr>
              <a:t>Software</a:t>
            </a:r>
            <a:r>
              <a:rPr lang="en-US" sz="3000" b="0" dirty="0" smtClean="0">
                <a:solidFill>
                  <a:srgbClr val="8CA3AD"/>
                </a:solidFill>
                <a:latin typeface="Georgia"/>
              </a:rPr>
              <a:t> ( Based on AI Model) </a:t>
            </a:r>
            <a:r>
              <a:rPr sz="3000" b="0" dirty="0" smtClean="0">
                <a:solidFill>
                  <a:srgbClr val="8CA3AD"/>
                </a:solidFill>
                <a:latin typeface="Georgia"/>
              </a:rPr>
              <a:t> </a:t>
            </a:r>
            <a:r>
              <a:rPr sz="3000" b="0" dirty="0">
                <a:solidFill>
                  <a:srgbClr val="8CA3AD"/>
                </a:solidFill>
                <a:latin typeface="Georgia"/>
              </a:rPr>
              <a:t>that helps cancer doctors choose treatments less likely to fail.</a:t>
            </a:r>
          </a:p>
        </p:txBody>
      </p:sp>
      <p:sp>
        <p:nvSpPr>
          <p:cNvPr id="9" name="TextBox 8"/>
          <p:cNvSpPr txBox="1"/>
          <p:nvPr/>
        </p:nvSpPr>
        <p:spPr>
          <a:xfrm>
            <a:off x="713232" y="5394960"/>
            <a:ext cx="10789920" cy="457200"/>
          </a:xfrm>
          <a:prstGeom prst="rect">
            <a:avLst/>
          </a:prstGeom>
          <a:noFill/>
        </p:spPr>
        <p:txBody>
          <a:bodyPr wrap="square" lIns="0" tIns="0" rIns="0" bIns="0" anchor="t">
            <a:spAutoFit/>
          </a:bodyPr>
          <a:lstStyle/>
          <a:p>
            <a:pPr algn="l">
              <a:lnSpc>
                <a:spcPct val="108000"/>
              </a:lnSpc>
              <a:spcAft>
                <a:spcPts val="800"/>
              </a:spcAft>
            </a:pPr>
            <a:r>
              <a:rPr sz="1800" b="0">
                <a:solidFill>
                  <a:srgbClr val="8CA3AD"/>
                </a:solidFill>
                <a:latin typeface="Georgia"/>
              </a:rPr>
              <a:t>Abhinav Mishra     Python and Streamlit     trained on free public data</a:t>
            </a:r>
          </a:p>
        </p:txBody>
      </p:sp>
      <p:sp>
        <p:nvSpPr>
          <p:cNvPr id="10" name="TextBox 9"/>
          <p:cNvSpPr txBox="1"/>
          <p:nvPr/>
        </p:nvSpPr>
        <p:spPr>
          <a:xfrm>
            <a:off x="713232" y="5989320"/>
            <a:ext cx="10789920" cy="457200"/>
          </a:xfrm>
          <a:prstGeom prst="rect">
            <a:avLst/>
          </a:prstGeom>
          <a:noFill/>
        </p:spPr>
        <p:txBody>
          <a:bodyPr wrap="square" lIns="0" tIns="0" rIns="0" bIns="0" anchor="t">
            <a:spAutoFit/>
          </a:bodyPr>
          <a:lstStyle/>
          <a:p>
            <a:pPr algn="l">
              <a:lnSpc>
                <a:spcPct val="108000"/>
              </a:lnSpc>
              <a:spcAft>
                <a:spcPts val="800"/>
              </a:spcAft>
            </a:pPr>
            <a:r>
              <a:rPr sz="1800" b="0" u="sng">
                <a:solidFill>
                  <a:srgbClr val="2DD4BF"/>
                </a:solidFill>
                <a:latin typeface="Consolas"/>
                <a:hlinkClick r:id="rId3"/>
              </a:rPr>
              <a:t>Open the live demo  ›  resistanceai.streamlit.app</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A1219"/>
        </a:solidFill>
        <a:effectLst/>
      </p:bgPr>
    </p:bg>
    <p:spTree>
      <p:nvGrpSpPr>
        <p:cNvPr id="1" name=""/>
        <p:cNvGrpSpPr/>
        <p:nvPr/>
      </p:nvGrpSpPr>
      <p:grpSpPr>
        <a:xfrm>
          <a:off x="0" y="0"/>
          <a:ext cx="0" cy="0"/>
          <a:chOff x="0" y="0"/>
          <a:chExt cx="0" cy="0"/>
        </a:xfrm>
      </p:grpSpPr>
      <p:sp>
        <p:nvSpPr>
          <p:cNvPr id="2" name="TextBox 1"/>
          <p:cNvSpPr txBox="1"/>
          <p:nvPr/>
        </p:nvSpPr>
        <p:spPr>
          <a:xfrm>
            <a:off x="11338560" y="6492240"/>
            <a:ext cx="777240" cy="274320"/>
          </a:xfrm>
          <a:prstGeom prst="rect">
            <a:avLst/>
          </a:prstGeom>
          <a:noFill/>
        </p:spPr>
        <p:txBody>
          <a:bodyPr wrap="square" lIns="0" tIns="0" rIns="0" bIns="0" anchor="t">
            <a:spAutoFit/>
          </a:bodyPr>
          <a:lstStyle/>
          <a:p>
            <a:pPr algn="r">
              <a:lnSpc>
                <a:spcPct val="108000"/>
              </a:lnSpc>
              <a:spcAft>
                <a:spcPts val="0"/>
              </a:spcAft>
            </a:pPr>
            <a:r>
              <a:rPr sz="1100" b="0">
                <a:solidFill>
                  <a:srgbClr val="8CA3AD"/>
                </a:solidFill>
                <a:latin typeface="Consolas"/>
              </a:rPr>
              <a:t>02 / 13</a:t>
            </a:r>
          </a:p>
        </p:txBody>
      </p:sp>
      <p:sp>
        <p:nvSpPr>
          <p:cNvPr id="3" name="Rectangle 2"/>
          <p:cNvSpPr/>
          <p:nvPr/>
        </p:nvSpPr>
        <p:spPr>
          <a:xfrm>
            <a:off x="713232" y="384048"/>
            <a:ext cx="502920" cy="457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566928"/>
            <a:ext cx="10835640" cy="1234440"/>
          </a:xfrm>
          <a:prstGeom prst="rect">
            <a:avLst/>
          </a:prstGeom>
          <a:noFill/>
        </p:spPr>
        <p:txBody>
          <a:bodyPr wrap="square" lIns="0" tIns="0" rIns="0" bIns="0" anchor="t">
            <a:spAutoFit/>
          </a:bodyPr>
          <a:lstStyle/>
          <a:p>
            <a:pPr algn="l">
              <a:lnSpc>
                <a:spcPct val="100000"/>
              </a:lnSpc>
              <a:spcAft>
                <a:spcPts val="800"/>
              </a:spcAft>
            </a:pPr>
            <a:r>
              <a:rPr sz="4000" b="1">
                <a:solidFill>
                  <a:srgbClr val="F2F7F6"/>
                </a:solidFill>
                <a:latin typeface="Georgia"/>
              </a:rPr>
              <a:t>Cancer starts when DNA instructions go wrong.</a:t>
            </a:r>
          </a:p>
        </p:txBody>
      </p:sp>
      <p:sp>
        <p:nvSpPr>
          <p:cNvPr id="5" name="TextBox 4"/>
          <p:cNvSpPr txBox="1"/>
          <p:nvPr/>
        </p:nvSpPr>
        <p:spPr>
          <a:xfrm>
            <a:off x="777240" y="2103120"/>
            <a:ext cx="6309360" cy="3931920"/>
          </a:xfrm>
          <a:prstGeom prst="rect">
            <a:avLst/>
          </a:prstGeom>
          <a:noFill/>
        </p:spPr>
        <p:txBody>
          <a:bodyPr wrap="square" lIns="0" tIns="0" rIns="0" bIns="0" anchor="t">
            <a:spAutoFit/>
          </a:bodyPr>
          <a:lstStyle/>
          <a:p>
            <a:pPr algn="l">
              <a:lnSpc>
                <a:spcPct val="108000"/>
              </a:lnSpc>
              <a:spcAft>
                <a:spcPts val="1600"/>
              </a:spcAft>
            </a:pPr>
            <a:r>
              <a:rPr sz="2400" b="0">
                <a:solidFill>
                  <a:srgbClr val="F2F7F6"/>
                </a:solidFill>
                <a:latin typeface="Georgia"/>
              </a:rPr>
              <a:t>A tumor's DNA is its damaged instruction manual.</a:t>
            </a:r>
          </a:p>
          <a:p>
            <a:pPr algn="l">
              <a:lnSpc>
                <a:spcPct val="108000"/>
              </a:lnSpc>
              <a:spcAft>
                <a:spcPts val="1600"/>
              </a:spcAft>
            </a:pPr>
            <a:r>
              <a:rPr sz="2400" b="0">
                <a:solidFill>
                  <a:srgbClr val="F2F7F6"/>
                </a:solidFill>
                <a:latin typeface="Georgia"/>
              </a:rPr>
              <a:t>Sequencing machines can now read that damage.</a:t>
            </a:r>
          </a:p>
          <a:p>
            <a:pPr algn="l">
              <a:lnSpc>
                <a:spcPct val="108000"/>
              </a:lnSpc>
              <a:spcAft>
                <a:spcPts val="1600"/>
              </a:spcAft>
            </a:pPr>
            <a:r>
              <a:rPr sz="2400" b="0">
                <a:solidFill>
                  <a:srgbClr val="F2F7F6"/>
                </a:solidFill>
                <a:latin typeface="Georgia"/>
              </a:rPr>
              <a:t>One tumor can carry thousands of errors; a few drive it.</a:t>
            </a:r>
          </a:p>
          <a:p>
            <a:pPr algn="l">
              <a:lnSpc>
                <a:spcPct val="108000"/>
              </a:lnSpc>
              <a:spcAft>
                <a:spcPts val="1600"/>
              </a:spcAft>
            </a:pPr>
            <a:r>
              <a:rPr sz="2400" b="0">
                <a:solidFill>
                  <a:srgbClr val="F2F7F6"/>
                </a:solidFill>
                <a:latin typeface="Georgia"/>
              </a:rPr>
              <a:t>Some drivers have drugs built to block them.</a:t>
            </a:r>
          </a:p>
          <a:p>
            <a:pPr algn="l">
              <a:lnSpc>
                <a:spcPct val="108000"/>
              </a:lnSpc>
              <a:spcAft>
                <a:spcPts val="1600"/>
              </a:spcAft>
            </a:pPr>
            <a:r>
              <a:rPr sz="2400" b="0">
                <a:solidFill>
                  <a:srgbClr val="F2F7F6"/>
                </a:solidFill>
                <a:latin typeface="Georgia"/>
              </a:rPr>
              <a:t>Matching the error to the drug is precision oncology.</a:t>
            </a:r>
          </a:p>
        </p:txBody>
      </p:sp>
      <p:sp>
        <p:nvSpPr>
          <p:cNvPr id="6" name="Rounded Rectangle 5"/>
          <p:cNvSpPr/>
          <p:nvPr/>
        </p:nvSpPr>
        <p:spPr>
          <a:xfrm>
            <a:off x="7543800" y="1965960"/>
            <a:ext cx="3977639" cy="4114800"/>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863840" y="2395727"/>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119871" y="2331720"/>
            <a:ext cx="3977639" cy="365760"/>
          </a:xfrm>
          <a:prstGeom prst="rect">
            <a:avLst/>
          </a:prstGeom>
          <a:noFill/>
        </p:spPr>
        <p:txBody>
          <a:bodyPr wrap="square" lIns="0" tIns="0" rIns="0" bIns="0" anchor="t">
            <a:spAutoFit/>
          </a:bodyPr>
          <a:lstStyle/>
          <a:p>
            <a:pPr algn="l">
              <a:lnSpc>
                <a:spcPct val="108000"/>
              </a:lnSpc>
              <a:spcAft>
                <a:spcPts val="800"/>
              </a:spcAft>
            </a:pPr>
            <a:r>
              <a:rPr sz="1300" b="1">
                <a:solidFill>
                  <a:srgbClr val="2DD4BF"/>
                </a:solidFill>
                <a:latin typeface="Consolas"/>
              </a:rPr>
              <a:t>WORDS TO KNOW</a:t>
            </a:r>
          </a:p>
        </p:txBody>
      </p:sp>
      <p:sp>
        <p:nvSpPr>
          <p:cNvPr id="9" name="TextBox 8"/>
          <p:cNvSpPr txBox="1"/>
          <p:nvPr/>
        </p:nvSpPr>
        <p:spPr>
          <a:xfrm>
            <a:off x="7863840" y="2880360"/>
            <a:ext cx="3383280" cy="320040"/>
          </a:xfrm>
          <a:prstGeom prst="rect">
            <a:avLst/>
          </a:prstGeom>
          <a:noFill/>
        </p:spPr>
        <p:txBody>
          <a:bodyPr wrap="square" lIns="0" tIns="0" rIns="0" bIns="0" anchor="t">
            <a:spAutoFit/>
          </a:bodyPr>
          <a:lstStyle/>
          <a:p>
            <a:pPr algn="l">
              <a:lnSpc>
                <a:spcPct val="108000"/>
              </a:lnSpc>
              <a:spcAft>
                <a:spcPts val="800"/>
              </a:spcAft>
            </a:pPr>
            <a:r>
              <a:rPr sz="1400" b="1">
                <a:solidFill>
                  <a:srgbClr val="2DD4BF"/>
                </a:solidFill>
                <a:latin typeface="Consolas"/>
              </a:rPr>
              <a:t>MUTATION</a:t>
            </a:r>
          </a:p>
        </p:txBody>
      </p:sp>
      <p:sp>
        <p:nvSpPr>
          <p:cNvPr id="10" name="TextBox 9"/>
          <p:cNvSpPr txBox="1"/>
          <p:nvPr/>
        </p:nvSpPr>
        <p:spPr>
          <a:xfrm>
            <a:off x="7863840" y="3227832"/>
            <a:ext cx="3383280" cy="411480"/>
          </a:xfrm>
          <a:prstGeom prst="rect">
            <a:avLst/>
          </a:prstGeom>
          <a:noFill/>
        </p:spPr>
        <p:txBody>
          <a:bodyPr wrap="square" lIns="0" tIns="0" rIns="0" bIns="0" anchor="t">
            <a:spAutoFit/>
          </a:bodyPr>
          <a:lstStyle/>
          <a:p>
            <a:pPr algn="l">
              <a:lnSpc>
                <a:spcPct val="108000"/>
              </a:lnSpc>
              <a:spcAft>
                <a:spcPts val="800"/>
              </a:spcAft>
            </a:pPr>
            <a:r>
              <a:rPr sz="1600" b="0">
                <a:solidFill>
                  <a:srgbClr val="8CA3AD"/>
                </a:solidFill>
                <a:latin typeface="Georgia"/>
              </a:rPr>
              <a:t>a DNA error, found by sequencing</a:t>
            </a:r>
          </a:p>
        </p:txBody>
      </p:sp>
      <p:sp>
        <p:nvSpPr>
          <p:cNvPr id="11" name="TextBox 10"/>
          <p:cNvSpPr txBox="1"/>
          <p:nvPr/>
        </p:nvSpPr>
        <p:spPr>
          <a:xfrm>
            <a:off x="7863840" y="3685032"/>
            <a:ext cx="3383280" cy="320040"/>
          </a:xfrm>
          <a:prstGeom prst="rect">
            <a:avLst/>
          </a:prstGeom>
          <a:noFill/>
        </p:spPr>
        <p:txBody>
          <a:bodyPr wrap="square" lIns="0" tIns="0" rIns="0" bIns="0" anchor="t">
            <a:spAutoFit/>
          </a:bodyPr>
          <a:lstStyle/>
          <a:p>
            <a:pPr algn="l">
              <a:lnSpc>
                <a:spcPct val="108000"/>
              </a:lnSpc>
              <a:spcAft>
                <a:spcPts val="800"/>
              </a:spcAft>
            </a:pPr>
            <a:r>
              <a:rPr sz="1400" b="1">
                <a:solidFill>
                  <a:srgbClr val="2DD4BF"/>
                </a:solidFill>
                <a:latin typeface="Consolas"/>
              </a:rPr>
              <a:t>DRIVER</a:t>
            </a:r>
          </a:p>
        </p:txBody>
      </p:sp>
      <p:sp>
        <p:nvSpPr>
          <p:cNvPr id="12" name="TextBox 11"/>
          <p:cNvSpPr txBox="1"/>
          <p:nvPr/>
        </p:nvSpPr>
        <p:spPr>
          <a:xfrm>
            <a:off x="7863840" y="4032504"/>
            <a:ext cx="3383280" cy="411480"/>
          </a:xfrm>
          <a:prstGeom prst="rect">
            <a:avLst/>
          </a:prstGeom>
          <a:noFill/>
        </p:spPr>
        <p:txBody>
          <a:bodyPr wrap="square" lIns="0" tIns="0" rIns="0" bIns="0" anchor="t">
            <a:spAutoFit/>
          </a:bodyPr>
          <a:lstStyle/>
          <a:p>
            <a:pPr algn="l">
              <a:lnSpc>
                <a:spcPct val="108000"/>
              </a:lnSpc>
              <a:spcAft>
                <a:spcPts val="800"/>
              </a:spcAft>
            </a:pPr>
            <a:r>
              <a:rPr sz="1600" b="0">
                <a:solidFill>
                  <a:srgbClr val="8CA3AD"/>
                </a:solidFill>
                <a:latin typeface="Georgia"/>
              </a:rPr>
              <a:t>an error that pushes the cancer</a:t>
            </a:r>
          </a:p>
        </p:txBody>
      </p:sp>
      <p:sp>
        <p:nvSpPr>
          <p:cNvPr id="13" name="TextBox 12"/>
          <p:cNvSpPr txBox="1"/>
          <p:nvPr/>
        </p:nvSpPr>
        <p:spPr>
          <a:xfrm>
            <a:off x="7863840" y="4489704"/>
            <a:ext cx="3383280" cy="320040"/>
          </a:xfrm>
          <a:prstGeom prst="rect">
            <a:avLst/>
          </a:prstGeom>
          <a:noFill/>
        </p:spPr>
        <p:txBody>
          <a:bodyPr wrap="square" lIns="0" tIns="0" rIns="0" bIns="0" anchor="t">
            <a:spAutoFit/>
          </a:bodyPr>
          <a:lstStyle/>
          <a:p>
            <a:pPr algn="l">
              <a:lnSpc>
                <a:spcPct val="108000"/>
              </a:lnSpc>
              <a:spcAft>
                <a:spcPts val="800"/>
              </a:spcAft>
            </a:pPr>
            <a:r>
              <a:rPr sz="1400" b="1">
                <a:solidFill>
                  <a:srgbClr val="2DD4BF"/>
                </a:solidFill>
                <a:latin typeface="Consolas"/>
              </a:rPr>
              <a:t>TARGETED DRUG</a:t>
            </a:r>
          </a:p>
        </p:txBody>
      </p:sp>
      <p:sp>
        <p:nvSpPr>
          <p:cNvPr id="14" name="TextBox 13"/>
          <p:cNvSpPr txBox="1"/>
          <p:nvPr/>
        </p:nvSpPr>
        <p:spPr>
          <a:xfrm>
            <a:off x="7863840" y="4837176"/>
            <a:ext cx="3383280" cy="411480"/>
          </a:xfrm>
          <a:prstGeom prst="rect">
            <a:avLst/>
          </a:prstGeom>
          <a:noFill/>
        </p:spPr>
        <p:txBody>
          <a:bodyPr wrap="square" lIns="0" tIns="0" rIns="0" bIns="0" anchor="t">
            <a:spAutoFit/>
          </a:bodyPr>
          <a:lstStyle/>
          <a:p>
            <a:pPr algn="l">
              <a:lnSpc>
                <a:spcPct val="108000"/>
              </a:lnSpc>
              <a:spcAft>
                <a:spcPts val="800"/>
              </a:spcAft>
            </a:pPr>
            <a:r>
              <a:rPr sz="1600" b="0">
                <a:solidFill>
                  <a:srgbClr val="8CA3AD"/>
                </a:solidFill>
                <a:latin typeface="Georgia"/>
              </a:rPr>
              <a:t>built to block one specific error</a:t>
            </a:r>
          </a:p>
        </p:txBody>
      </p:sp>
      <p:sp>
        <p:nvSpPr>
          <p:cNvPr id="15" name="TextBox 14"/>
          <p:cNvSpPr txBox="1"/>
          <p:nvPr/>
        </p:nvSpPr>
        <p:spPr>
          <a:xfrm>
            <a:off x="7863840" y="5294376"/>
            <a:ext cx="3383280" cy="320040"/>
          </a:xfrm>
          <a:prstGeom prst="rect">
            <a:avLst/>
          </a:prstGeom>
          <a:noFill/>
        </p:spPr>
        <p:txBody>
          <a:bodyPr wrap="square" lIns="0" tIns="0" rIns="0" bIns="0" anchor="t">
            <a:spAutoFit/>
          </a:bodyPr>
          <a:lstStyle/>
          <a:p>
            <a:pPr algn="l">
              <a:lnSpc>
                <a:spcPct val="108000"/>
              </a:lnSpc>
              <a:spcAft>
                <a:spcPts val="800"/>
              </a:spcAft>
            </a:pPr>
            <a:r>
              <a:rPr sz="1400" b="1">
                <a:solidFill>
                  <a:srgbClr val="2DD4BF"/>
                </a:solidFill>
                <a:latin typeface="Consolas"/>
              </a:rPr>
              <a:t>PRECISION ONCOLOGY</a:t>
            </a:r>
          </a:p>
        </p:txBody>
      </p:sp>
      <p:sp>
        <p:nvSpPr>
          <p:cNvPr id="16" name="TextBox 15"/>
          <p:cNvSpPr txBox="1"/>
          <p:nvPr/>
        </p:nvSpPr>
        <p:spPr>
          <a:xfrm>
            <a:off x="7863840" y="5641848"/>
            <a:ext cx="3383280" cy="411480"/>
          </a:xfrm>
          <a:prstGeom prst="rect">
            <a:avLst/>
          </a:prstGeom>
          <a:noFill/>
        </p:spPr>
        <p:txBody>
          <a:bodyPr wrap="square" lIns="0" tIns="0" rIns="0" bIns="0" anchor="t">
            <a:spAutoFit/>
          </a:bodyPr>
          <a:lstStyle/>
          <a:p>
            <a:pPr algn="l">
              <a:lnSpc>
                <a:spcPct val="108000"/>
              </a:lnSpc>
              <a:spcAft>
                <a:spcPts val="800"/>
              </a:spcAft>
            </a:pPr>
            <a:r>
              <a:rPr sz="1600" b="0">
                <a:solidFill>
                  <a:srgbClr val="8CA3AD"/>
                </a:solidFill>
                <a:latin typeface="Georgia"/>
              </a:rPr>
              <a:t>matching the drug to the error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A1219"/>
        </a:solidFill>
        <a:effectLst/>
      </p:bgPr>
    </p:bg>
    <p:spTree>
      <p:nvGrpSpPr>
        <p:cNvPr id="1" name=""/>
        <p:cNvGrpSpPr/>
        <p:nvPr/>
      </p:nvGrpSpPr>
      <p:grpSpPr>
        <a:xfrm>
          <a:off x="0" y="0"/>
          <a:ext cx="0" cy="0"/>
          <a:chOff x="0" y="0"/>
          <a:chExt cx="0" cy="0"/>
        </a:xfrm>
      </p:grpSpPr>
      <p:sp>
        <p:nvSpPr>
          <p:cNvPr id="2" name="TextBox 1"/>
          <p:cNvSpPr txBox="1"/>
          <p:nvPr/>
        </p:nvSpPr>
        <p:spPr>
          <a:xfrm>
            <a:off x="11338560" y="6492240"/>
            <a:ext cx="777240" cy="274320"/>
          </a:xfrm>
          <a:prstGeom prst="rect">
            <a:avLst/>
          </a:prstGeom>
          <a:noFill/>
        </p:spPr>
        <p:txBody>
          <a:bodyPr wrap="square" lIns="0" tIns="0" rIns="0" bIns="0" anchor="t">
            <a:spAutoFit/>
          </a:bodyPr>
          <a:lstStyle/>
          <a:p>
            <a:pPr algn="r">
              <a:lnSpc>
                <a:spcPct val="108000"/>
              </a:lnSpc>
              <a:spcAft>
                <a:spcPts val="0"/>
              </a:spcAft>
            </a:pPr>
            <a:r>
              <a:rPr sz="1100" b="0">
                <a:solidFill>
                  <a:srgbClr val="8CA3AD"/>
                </a:solidFill>
                <a:latin typeface="Consolas"/>
              </a:rPr>
              <a:t>03 / 13</a:t>
            </a:r>
          </a:p>
        </p:txBody>
      </p:sp>
      <p:sp>
        <p:nvSpPr>
          <p:cNvPr id="3" name="Rectangle 2"/>
          <p:cNvSpPr/>
          <p:nvPr/>
        </p:nvSpPr>
        <p:spPr>
          <a:xfrm>
            <a:off x="713232" y="384048"/>
            <a:ext cx="502920" cy="457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566928"/>
            <a:ext cx="10835640" cy="1234440"/>
          </a:xfrm>
          <a:prstGeom prst="rect">
            <a:avLst/>
          </a:prstGeom>
          <a:noFill/>
        </p:spPr>
        <p:txBody>
          <a:bodyPr wrap="square" lIns="0" tIns="0" rIns="0" bIns="0" anchor="t">
            <a:spAutoFit/>
          </a:bodyPr>
          <a:lstStyle/>
          <a:p>
            <a:pPr algn="l">
              <a:lnSpc>
                <a:spcPct val="100000"/>
              </a:lnSpc>
              <a:spcAft>
                <a:spcPts val="800"/>
              </a:spcAft>
            </a:pPr>
            <a:r>
              <a:rPr sz="4000" b="1">
                <a:solidFill>
                  <a:srgbClr val="F2F7F6"/>
                </a:solidFill>
                <a:latin typeface="Georgia"/>
              </a:rPr>
              <a:t>Knowing which drug will work takes experts most hospitals lack.</a:t>
            </a:r>
          </a:p>
        </p:txBody>
      </p:sp>
      <p:sp>
        <p:nvSpPr>
          <p:cNvPr id="5" name="TextBox 4"/>
          <p:cNvSpPr txBox="1"/>
          <p:nvPr/>
        </p:nvSpPr>
        <p:spPr>
          <a:xfrm>
            <a:off x="777240" y="2057400"/>
            <a:ext cx="6309360" cy="2926080"/>
          </a:xfrm>
          <a:prstGeom prst="rect">
            <a:avLst/>
          </a:prstGeom>
          <a:noFill/>
        </p:spPr>
        <p:txBody>
          <a:bodyPr wrap="square" lIns="0" tIns="0" rIns="0" bIns="0" anchor="t">
            <a:spAutoFit/>
          </a:bodyPr>
          <a:lstStyle/>
          <a:p>
            <a:pPr algn="l">
              <a:lnSpc>
                <a:spcPct val="108000"/>
              </a:lnSpc>
              <a:spcAft>
                <a:spcPts val="1400"/>
              </a:spcAft>
            </a:pPr>
            <a:r>
              <a:rPr sz="2400" b="0">
                <a:solidFill>
                  <a:srgbClr val="F2F7F6"/>
                </a:solidFill>
                <a:latin typeface="Georgia"/>
              </a:rPr>
              <a:t>One report can list hundreds of mutations.</a:t>
            </a:r>
          </a:p>
          <a:p>
            <a:pPr algn="l">
              <a:lnSpc>
                <a:spcPct val="108000"/>
              </a:lnSpc>
              <a:spcAft>
                <a:spcPts val="1400"/>
              </a:spcAft>
            </a:pPr>
            <a:r>
              <a:rPr sz="2400" b="0">
                <a:solidFill>
                  <a:srgbClr val="F2F7F6"/>
                </a:solidFill>
                <a:latin typeface="Georgia"/>
              </a:rPr>
              <a:t>Hospital panels read hundreds of genes at once.</a:t>
            </a:r>
          </a:p>
          <a:p>
            <a:pPr algn="l">
              <a:lnSpc>
                <a:spcPct val="108000"/>
              </a:lnSpc>
              <a:spcAft>
                <a:spcPts val="1400"/>
              </a:spcAft>
            </a:pPr>
            <a:r>
              <a:rPr sz="2400" b="0">
                <a:solidFill>
                  <a:srgbClr val="F2F7F6"/>
                </a:solidFill>
                <a:latin typeface="Georgia"/>
              </a:rPr>
              <a:t>Specialist tumor boards live at big centers.</a:t>
            </a:r>
          </a:p>
          <a:p>
            <a:pPr algn="l">
              <a:lnSpc>
                <a:spcPct val="108000"/>
              </a:lnSpc>
              <a:spcAft>
                <a:spcPts val="1400"/>
              </a:spcAft>
            </a:pPr>
            <a:r>
              <a:rPr sz="2400" b="0">
                <a:solidFill>
                  <a:srgbClr val="F2F7F6"/>
                </a:solidFill>
                <a:latin typeface="Georgia"/>
              </a:rPr>
              <a:t>Community oncologists often decide alone.</a:t>
            </a:r>
          </a:p>
          <a:p>
            <a:pPr algn="l">
              <a:lnSpc>
                <a:spcPct val="108000"/>
              </a:lnSpc>
              <a:spcAft>
                <a:spcPts val="1400"/>
              </a:spcAft>
            </a:pPr>
            <a:r>
              <a:rPr sz="2400" b="0">
                <a:solidFill>
                  <a:srgbClr val="F2F7F6"/>
                </a:solidFill>
                <a:latin typeface="Georgia"/>
              </a:rPr>
              <a:t>A wrong first choice can cost months.</a:t>
            </a:r>
          </a:p>
        </p:txBody>
      </p:sp>
      <p:sp>
        <p:nvSpPr>
          <p:cNvPr id="6" name="Rectangle 5"/>
          <p:cNvSpPr/>
          <p:nvPr/>
        </p:nvSpPr>
        <p:spPr>
          <a:xfrm>
            <a:off x="777240" y="5074920"/>
            <a:ext cx="64008" cy="7772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51560" y="5193792"/>
            <a:ext cx="6035040" cy="822960"/>
          </a:xfrm>
          <a:prstGeom prst="rect">
            <a:avLst/>
          </a:prstGeom>
          <a:noFill/>
        </p:spPr>
        <p:txBody>
          <a:bodyPr wrap="square" lIns="0" tIns="0" rIns="0" bIns="0" anchor="t">
            <a:spAutoFit/>
          </a:bodyPr>
          <a:lstStyle/>
          <a:p>
            <a:pPr algn="l">
              <a:lnSpc>
                <a:spcPct val="115000"/>
              </a:lnSpc>
              <a:spcAft>
                <a:spcPts val="800"/>
              </a:spcAft>
            </a:pPr>
            <a:r>
              <a:rPr sz="2000" b="0">
                <a:solidFill>
                  <a:srgbClr val="2DD4BF"/>
                </a:solidFill>
                <a:latin typeface="Georgia"/>
              </a:rPr>
              <a:t>Sequencing is routine. Reading it is the bottleneck.</a:t>
            </a:r>
          </a:p>
        </p:txBody>
      </p:sp>
      <p:sp>
        <p:nvSpPr>
          <p:cNvPr id="8" name="Rounded Rectangle 7"/>
          <p:cNvSpPr/>
          <p:nvPr/>
        </p:nvSpPr>
        <p:spPr>
          <a:xfrm>
            <a:off x="7543800" y="1965960"/>
            <a:ext cx="3977639" cy="1920240"/>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7863840" y="2350008"/>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119871" y="2286000"/>
            <a:ext cx="3977639" cy="365760"/>
          </a:xfrm>
          <a:prstGeom prst="rect">
            <a:avLst/>
          </a:prstGeom>
          <a:noFill/>
        </p:spPr>
        <p:txBody>
          <a:bodyPr wrap="square" lIns="0" tIns="0" rIns="0" bIns="0" anchor="t">
            <a:spAutoFit/>
          </a:bodyPr>
          <a:lstStyle/>
          <a:p>
            <a:pPr algn="l">
              <a:lnSpc>
                <a:spcPct val="108000"/>
              </a:lnSpc>
              <a:spcAft>
                <a:spcPts val="800"/>
              </a:spcAft>
            </a:pPr>
            <a:r>
              <a:rPr sz="1300" b="1">
                <a:solidFill>
                  <a:srgbClr val="2DD4BF"/>
                </a:solidFill>
                <a:latin typeface="Consolas"/>
              </a:rPr>
              <a:t>WHAT AN ONCOLOGIST IS</a:t>
            </a:r>
          </a:p>
        </p:txBody>
      </p:sp>
      <p:sp>
        <p:nvSpPr>
          <p:cNvPr id="11" name="TextBox 10"/>
          <p:cNvSpPr txBox="1"/>
          <p:nvPr/>
        </p:nvSpPr>
        <p:spPr>
          <a:xfrm>
            <a:off x="7863840" y="2788920"/>
            <a:ext cx="3383280" cy="914400"/>
          </a:xfrm>
          <a:prstGeom prst="rect">
            <a:avLst/>
          </a:prstGeom>
          <a:noFill/>
        </p:spPr>
        <p:txBody>
          <a:bodyPr wrap="square" lIns="0" tIns="0" rIns="0" bIns="0" anchor="t">
            <a:spAutoFit/>
          </a:bodyPr>
          <a:lstStyle/>
          <a:p>
            <a:pPr algn="l">
              <a:lnSpc>
                <a:spcPct val="115000"/>
              </a:lnSpc>
              <a:spcAft>
                <a:spcPts val="800"/>
              </a:spcAft>
            </a:pPr>
            <a:r>
              <a:rPr sz="1700" b="0">
                <a:solidFill>
                  <a:srgbClr val="8CA3AD"/>
                </a:solidFill>
                <a:latin typeface="Georgia"/>
              </a:rPr>
              <a:t>The doctor who treats cancer and chooses the drug.</a:t>
            </a:r>
          </a:p>
        </p:txBody>
      </p:sp>
      <p:sp>
        <p:nvSpPr>
          <p:cNvPr id="12" name="Rounded Rectangle 11"/>
          <p:cNvSpPr/>
          <p:nvPr/>
        </p:nvSpPr>
        <p:spPr>
          <a:xfrm>
            <a:off x="7543800" y="4069080"/>
            <a:ext cx="3977639" cy="2011680"/>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7863840" y="4453128"/>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119871" y="4389120"/>
            <a:ext cx="3977639" cy="365760"/>
          </a:xfrm>
          <a:prstGeom prst="rect">
            <a:avLst/>
          </a:prstGeom>
          <a:noFill/>
        </p:spPr>
        <p:txBody>
          <a:bodyPr wrap="square" lIns="0" tIns="0" rIns="0" bIns="0" anchor="t">
            <a:spAutoFit/>
          </a:bodyPr>
          <a:lstStyle/>
          <a:p>
            <a:pPr algn="l">
              <a:lnSpc>
                <a:spcPct val="108000"/>
              </a:lnSpc>
              <a:spcAft>
                <a:spcPts val="800"/>
              </a:spcAft>
            </a:pPr>
            <a:r>
              <a:rPr sz="1300" b="1">
                <a:solidFill>
                  <a:srgbClr val="2DD4BF"/>
                </a:solidFill>
                <a:latin typeface="Consolas"/>
              </a:rPr>
              <a:t>WHAT A TUMOR BOARD IS</a:t>
            </a:r>
          </a:p>
        </p:txBody>
      </p:sp>
      <p:sp>
        <p:nvSpPr>
          <p:cNvPr id="15" name="TextBox 14"/>
          <p:cNvSpPr txBox="1"/>
          <p:nvPr/>
        </p:nvSpPr>
        <p:spPr>
          <a:xfrm>
            <a:off x="7863840" y="4892040"/>
            <a:ext cx="3383280" cy="1005840"/>
          </a:xfrm>
          <a:prstGeom prst="rect">
            <a:avLst/>
          </a:prstGeom>
          <a:noFill/>
        </p:spPr>
        <p:txBody>
          <a:bodyPr wrap="square" lIns="0" tIns="0" rIns="0" bIns="0" anchor="t">
            <a:spAutoFit/>
          </a:bodyPr>
          <a:lstStyle/>
          <a:p>
            <a:pPr algn="l">
              <a:lnSpc>
                <a:spcPct val="115000"/>
              </a:lnSpc>
              <a:spcAft>
                <a:spcPts val="800"/>
              </a:spcAft>
            </a:pPr>
            <a:r>
              <a:rPr sz="1700" b="0">
                <a:solidFill>
                  <a:srgbClr val="8CA3AD"/>
                </a:solidFill>
                <a:latin typeface="Georgia"/>
              </a:rPr>
              <a:t>A panel of specialists who review hard reports together.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A1219"/>
        </a:solidFill>
        <a:effectLst/>
      </p:bgPr>
    </p:bg>
    <p:spTree>
      <p:nvGrpSpPr>
        <p:cNvPr id="1" name=""/>
        <p:cNvGrpSpPr/>
        <p:nvPr/>
      </p:nvGrpSpPr>
      <p:grpSpPr>
        <a:xfrm>
          <a:off x="0" y="0"/>
          <a:ext cx="0" cy="0"/>
          <a:chOff x="0" y="0"/>
          <a:chExt cx="0" cy="0"/>
        </a:xfrm>
      </p:grpSpPr>
      <p:sp>
        <p:nvSpPr>
          <p:cNvPr id="2" name="TextBox 1"/>
          <p:cNvSpPr txBox="1"/>
          <p:nvPr/>
        </p:nvSpPr>
        <p:spPr>
          <a:xfrm>
            <a:off x="11338560" y="6492240"/>
            <a:ext cx="777240" cy="274320"/>
          </a:xfrm>
          <a:prstGeom prst="rect">
            <a:avLst/>
          </a:prstGeom>
          <a:noFill/>
        </p:spPr>
        <p:txBody>
          <a:bodyPr wrap="square" lIns="0" tIns="0" rIns="0" bIns="0" anchor="t">
            <a:spAutoFit/>
          </a:bodyPr>
          <a:lstStyle/>
          <a:p>
            <a:pPr algn="r">
              <a:lnSpc>
                <a:spcPct val="108000"/>
              </a:lnSpc>
              <a:spcAft>
                <a:spcPts val="0"/>
              </a:spcAft>
            </a:pPr>
            <a:r>
              <a:rPr sz="1100" b="0">
                <a:solidFill>
                  <a:srgbClr val="8CA3AD"/>
                </a:solidFill>
                <a:latin typeface="Consolas"/>
              </a:rPr>
              <a:t>04 / 13</a:t>
            </a:r>
          </a:p>
        </p:txBody>
      </p:sp>
      <p:sp>
        <p:nvSpPr>
          <p:cNvPr id="3" name="Rectangle 2"/>
          <p:cNvSpPr/>
          <p:nvPr/>
        </p:nvSpPr>
        <p:spPr>
          <a:xfrm>
            <a:off x="713232" y="384048"/>
            <a:ext cx="502920" cy="457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566928"/>
            <a:ext cx="10835640" cy="1234440"/>
          </a:xfrm>
          <a:prstGeom prst="rect">
            <a:avLst/>
          </a:prstGeom>
          <a:noFill/>
        </p:spPr>
        <p:txBody>
          <a:bodyPr wrap="square" lIns="0" tIns="0" rIns="0" bIns="0" anchor="t">
            <a:spAutoFit/>
          </a:bodyPr>
          <a:lstStyle/>
          <a:p>
            <a:pPr algn="l">
              <a:lnSpc>
                <a:spcPct val="100000"/>
              </a:lnSpc>
              <a:spcAft>
                <a:spcPts val="800"/>
              </a:spcAft>
            </a:pPr>
            <a:r>
              <a:rPr sz="4000" b="1">
                <a:solidFill>
                  <a:srgbClr val="F2F7F6"/>
                </a:solidFill>
                <a:latin typeface="Georgia"/>
              </a:rPr>
              <a:t>So the model learned from real patients, not rules I wrote.</a:t>
            </a:r>
          </a:p>
        </p:txBody>
      </p:sp>
      <p:sp>
        <p:nvSpPr>
          <p:cNvPr id="5" name="TextBox 4"/>
          <p:cNvSpPr txBox="1"/>
          <p:nvPr/>
        </p:nvSpPr>
        <p:spPr>
          <a:xfrm>
            <a:off x="685800" y="2011680"/>
            <a:ext cx="6766560" cy="1463040"/>
          </a:xfrm>
          <a:prstGeom prst="rect">
            <a:avLst/>
          </a:prstGeom>
          <a:noFill/>
        </p:spPr>
        <p:txBody>
          <a:bodyPr wrap="square" lIns="0" tIns="0" rIns="0" bIns="0" anchor="t">
            <a:spAutoFit/>
          </a:bodyPr>
          <a:lstStyle/>
          <a:p>
            <a:pPr algn="l">
              <a:lnSpc>
                <a:spcPct val="108000"/>
              </a:lnSpc>
              <a:spcAft>
                <a:spcPts val="800"/>
              </a:spcAft>
            </a:pPr>
            <a:r>
              <a:rPr sz="10500" b="1">
                <a:solidFill>
                  <a:srgbClr val="2DD4BF"/>
                </a:solidFill>
                <a:latin typeface="Consolas"/>
              </a:rPr>
              <a:t>26,064</a:t>
            </a:r>
          </a:p>
        </p:txBody>
      </p:sp>
      <p:sp>
        <p:nvSpPr>
          <p:cNvPr id="6" name="TextBox 5"/>
          <p:cNvSpPr txBox="1"/>
          <p:nvPr/>
        </p:nvSpPr>
        <p:spPr>
          <a:xfrm>
            <a:off x="731520" y="3611880"/>
            <a:ext cx="6400800" cy="1005840"/>
          </a:xfrm>
          <a:prstGeom prst="rect">
            <a:avLst/>
          </a:prstGeom>
          <a:noFill/>
        </p:spPr>
        <p:txBody>
          <a:bodyPr wrap="square" lIns="0" tIns="0" rIns="0" bIns="0" anchor="t">
            <a:spAutoFit/>
          </a:bodyPr>
          <a:lstStyle/>
          <a:p>
            <a:pPr algn="l">
              <a:lnSpc>
                <a:spcPct val="115000"/>
              </a:lnSpc>
              <a:spcAft>
                <a:spcPts val="800"/>
              </a:spcAft>
            </a:pPr>
            <a:r>
              <a:rPr sz="2400" b="0">
                <a:solidFill>
                  <a:srgbClr val="F2F7F6"/>
                </a:solidFill>
                <a:latin typeface="Georgia"/>
              </a:rPr>
              <a:t>cancer patients with a sequenced tumor and an outcome on record.</a:t>
            </a:r>
          </a:p>
        </p:txBody>
      </p:sp>
      <p:sp>
        <p:nvSpPr>
          <p:cNvPr id="7" name="Rounded Rectangle 6"/>
          <p:cNvSpPr/>
          <p:nvPr/>
        </p:nvSpPr>
        <p:spPr>
          <a:xfrm>
            <a:off x="7589520" y="1965960"/>
            <a:ext cx="3886200" cy="2971800"/>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909560" y="2350008"/>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165592" y="2286000"/>
            <a:ext cx="3931919" cy="365760"/>
          </a:xfrm>
          <a:prstGeom prst="rect">
            <a:avLst/>
          </a:prstGeom>
          <a:noFill/>
        </p:spPr>
        <p:txBody>
          <a:bodyPr wrap="square" lIns="0" tIns="0" rIns="0" bIns="0" anchor="t">
            <a:spAutoFit/>
          </a:bodyPr>
          <a:lstStyle/>
          <a:p>
            <a:pPr algn="l">
              <a:lnSpc>
                <a:spcPct val="108000"/>
              </a:lnSpc>
              <a:spcAft>
                <a:spcPts val="800"/>
              </a:spcAft>
            </a:pPr>
            <a:r>
              <a:rPr sz="1300" b="1">
                <a:solidFill>
                  <a:srgbClr val="2DD4BF"/>
                </a:solidFill>
                <a:latin typeface="Consolas"/>
              </a:rPr>
              <a:t>WHERE IT CAME FROM</a:t>
            </a:r>
          </a:p>
        </p:txBody>
      </p:sp>
      <p:sp>
        <p:nvSpPr>
          <p:cNvPr id="10" name="TextBox 9"/>
          <p:cNvSpPr txBox="1"/>
          <p:nvPr/>
        </p:nvSpPr>
        <p:spPr>
          <a:xfrm>
            <a:off x="7909560" y="2788920"/>
            <a:ext cx="3291840" cy="822960"/>
          </a:xfrm>
          <a:prstGeom prst="rect">
            <a:avLst/>
          </a:prstGeom>
          <a:noFill/>
        </p:spPr>
        <p:txBody>
          <a:bodyPr wrap="square" lIns="0" tIns="0" rIns="0" bIns="0" anchor="t">
            <a:spAutoFit/>
          </a:bodyPr>
          <a:lstStyle/>
          <a:p>
            <a:pPr algn="l">
              <a:lnSpc>
                <a:spcPct val="108000"/>
              </a:lnSpc>
              <a:spcAft>
                <a:spcPts val="800"/>
              </a:spcAft>
            </a:pPr>
            <a:r>
              <a:rPr sz="1500" b="0">
                <a:solidFill>
                  <a:srgbClr val="F2F7F6"/>
                </a:solidFill>
                <a:latin typeface="Consolas"/>
              </a:rPr>
              <a:t>10,336   MSK-IMPACT, 2017</a:t>
            </a:r>
          </a:p>
          <a:p>
            <a:pPr algn="l">
              <a:lnSpc>
                <a:spcPct val="108000"/>
              </a:lnSpc>
              <a:spcAft>
                <a:spcPts val="800"/>
              </a:spcAft>
            </a:pPr>
            <a:r>
              <a:rPr sz="1500" b="0">
                <a:solidFill>
                  <a:srgbClr val="F2F7F6"/>
                </a:solidFill>
                <a:latin typeface="Consolas"/>
              </a:rPr>
              <a:t>24,950   MSK-CHORD, 2024</a:t>
            </a:r>
          </a:p>
        </p:txBody>
      </p:sp>
      <p:sp>
        <p:nvSpPr>
          <p:cNvPr id="11" name="TextBox 10"/>
          <p:cNvSpPr txBox="1"/>
          <p:nvPr/>
        </p:nvSpPr>
        <p:spPr>
          <a:xfrm>
            <a:off x="7909560" y="3703320"/>
            <a:ext cx="3291840" cy="1005840"/>
          </a:xfrm>
          <a:prstGeom prst="rect">
            <a:avLst/>
          </a:prstGeom>
          <a:noFill/>
        </p:spPr>
        <p:txBody>
          <a:bodyPr wrap="square" lIns="0" tIns="0" rIns="0" bIns="0" anchor="t">
            <a:spAutoFit/>
          </a:bodyPr>
          <a:lstStyle/>
          <a:p>
            <a:pPr algn="l">
              <a:lnSpc>
                <a:spcPct val="120000"/>
              </a:lnSpc>
              <a:spcAft>
                <a:spcPts val="800"/>
              </a:spcAft>
            </a:pPr>
            <a:r>
              <a:rPr sz="1600" b="0">
                <a:solidFill>
                  <a:srgbClr val="8CA3AD"/>
                </a:solidFill>
                <a:latin typeface="Georgia"/>
              </a:rPr>
              <a:t>Two public datasets from Memorial Sloan Kettering.</a:t>
            </a:r>
          </a:p>
        </p:txBody>
      </p:sp>
      <p:sp>
        <p:nvSpPr>
          <p:cNvPr id="12" name="Rounded Rectangle 11"/>
          <p:cNvSpPr/>
          <p:nvPr/>
        </p:nvSpPr>
        <p:spPr>
          <a:xfrm>
            <a:off x="731520" y="5074920"/>
            <a:ext cx="3566160" cy="1143000"/>
          </a:xfrm>
          <a:prstGeom prst="roundRect">
            <a:avLst>
              <a:gd name="adj" fmla="val 5000"/>
            </a:avLst>
          </a:prstGeom>
          <a:solidFill>
            <a:srgbClr val="13202B"/>
          </a:solidFill>
          <a:ln w="12700">
            <a:solidFill>
              <a:srgbClr val="233A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60120" y="5202936"/>
            <a:ext cx="3108960" cy="502920"/>
          </a:xfrm>
          <a:prstGeom prst="rect">
            <a:avLst/>
          </a:prstGeom>
          <a:noFill/>
        </p:spPr>
        <p:txBody>
          <a:bodyPr wrap="square" lIns="0" tIns="0" rIns="0" bIns="0" anchor="t">
            <a:spAutoFit/>
          </a:bodyPr>
          <a:lstStyle/>
          <a:p>
            <a:pPr algn="l">
              <a:lnSpc>
                <a:spcPct val="108000"/>
              </a:lnSpc>
              <a:spcAft>
                <a:spcPts val="800"/>
              </a:spcAft>
            </a:pPr>
            <a:r>
              <a:rPr sz="3000" b="1">
                <a:solidFill>
                  <a:srgbClr val="2DD4BF"/>
                </a:solidFill>
                <a:latin typeface="Consolas"/>
              </a:rPr>
              <a:t>15,638</a:t>
            </a:r>
          </a:p>
        </p:txBody>
      </p:sp>
      <p:sp>
        <p:nvSpPr>
          <p:cNvPr id="14" name="TextBox 13"/>
          <p:cNvSpPr txBox="1"/>
          <p:nvPr/>
        </p:nvSpPr>
        <p:spPr>
          <a:xfrm>
            <a:off x="960120" y="5788152"/>
            <a:ext cx="3200400" cy="365760"/>
          </a:xfrm>
          <a:prstGeom prst="rect">
            <a:avLst/>
          </a:prstGeom>
          <a:noFill/>
        </p:spPr>
        <p:txBody>
          <a:bodyPr wrap="square" lIns="0" tIns="0" rIns="0" bIns="0" anchor="t">
            <a:spAutoFit/>
          </a:bodyPr>
          <a:lstStyle/>
          <a:p>
            <a:pPr algn="l">
              <a:lnSpc>
                <a:spcPct val="108000"/>
              </a:lnSpc>
              <a:spcAft>
                <a:spcPts val="800"/>
              </a:spcAft>
            </a:pPr>
            <a:r>
              <a:rPr sz="1300" b="0">
                <a:solidFill>
                  <a:srgbClr val="8CA3AD"/>
                </a:solidFill>
                <a:latin typeface="Consolas"/>
              </a:rPr>
              <a:t>PATIENTS TO TRAIN</a:t>
            </a:r>
          </a:p>
        </p:txBody>
      </p:sp>
      <p:sp>
        <p:nvSpPr>
          <p:cNvPr id="15" name="Rounded Rectangle 14"/>
          <p:cNvSpPr/>
          <p:nvPr/>
        </p:nvSpPr>
        <p:spPr>
          <a:xfrm>
            <a:off x="4526280" y="5074920"/>
            <a:ext cx="3566160" cy="1143000"/>
          </a:xfrm>
          <a:prstGeom prst="roundRect">
            <a:avLst>
              <a:gd name="adj" fmla="val 5000"/>
            </a:avLst>
          </a:prstGeom>
          <a:solidFill>
            <a:srgbClr val="13202B"/>
          </a:solidFill>
          <a:ln w="12700">
            <a:solidFill>
              <a:srgbClr val="233A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754880" y="5202936"/>
            <a:ext cx="3108960" cy="502920"/>
          </a:xfrm>
          <a:prstGeom prst="rect">
            <a:avLst/>
          </a:prstGeom>
          <a:noFill/>
        </p:spPr>
        <p:txBody>
          <a:bodyPr wrap="square" lIns="0" tIns="0" rIns="0" bIns="0" anchor="t">
            <a:spAutoFit/>
          </a:bodyPr>
          <a:lstStyle/>
          <a:p>
            <a:pPr algn="l">
              <a:lnSpc>
                <a:spcPct val="108000"/>
              </a:lnSpc>
              <a:spcAft>
                <a:spcPts val="800"/>
              </a:spcAft>
            </a:pPr>
            <a:r>
              <a:rPr sz="3000" b="1">
                <a:solidFill>
                  <a:srgbClr val="2DD4BF"/>
                </a:solidFill>
                <a:latin typeface="Consolas"/>
              </a:rPr>
              <a:t>5,213</a:t>
            </a:r>
          </a:p>
        </p:txBody>
      </p:sp>
      <p:sp>
        <p:nvSpPr>
          <p:cNvPr id="17" name="TextBox 16"/>
          <p:cNvSpPr txBox="1"/>
          <p:nvPr/>
        </p:nvSpPr>
        <p:spPr>
          <a:xfrm>
            <a:off x="4754880" y="5788152"/>
            <a:ext cx="3200400" cy="365760"/>
          </a:xfrm>
          <a:prstGeom prst="rect">
            <a:avLst/>
          </a:prstGeom>
          <a:noFill/>
        </p:spPr>
        <p:txBody>
          <a:bodyPr wrap="square" lIns="0" tIns="0" rIns="0" bIns="0" anchor="t">
            <a:spAutoFit/>
          </a:bodyPr>
          <a:lstStyle/>
          <a:p>
            <a:pPr algn="l">
              <a:lnSpc>
                <a:spcPct val="108000"/>
              </a:lnSpc>
              <a:spcAft>
                <a:spcPts val="800"/>
              </a:spcAft>
            </a:pPr>
            <a:r>
              <a:rPr sz="1300" b="0">
                <a:solidFill>
                  <a:srgbClr val="8CA3AD"/>
                </a:solidFill>
                <a:latin typeface="Consolas"/>
              </a:rPr>
              <a:t>TO CALIBRATE</a:t>
            </a:r>
          </a:p>
        </p:txBody>
      </p:sp>
      <p:sp>
        <p:nvSpPr>
          <p:cNvPr id="18" name="Rounded Rectangle 17"/>
          <p:cNvSpPr/>
          <p:nvPr/>
        </p:nvSpPr>
        <p:spPr>
          <a:xfrm>
            <a:off x="8321040" y="5074920"/>
            <a:ext cx="3566160" cy="1143000"/>
          </a:xfrm>
          <a:prstGeom prst="roundRect">
            <a:avLst>
              <a:gd name="adj" fmla="val 5000"/>
            </a:avLst>
          </a:prstGeom>
          <a:solidFill>
            <a:srgbClr val="13202B"/>
          </a:solidFill>
          <a:ln w="12700">
            <a:solidFill>
              <a:srgbClr val="233A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549640" y="5202936"/>
            <a:ext cx="3108960" cy="502920"/>
          </a:xfrm>
          <a:prstGeom prst="rect">
            <a:avLst/>
          </a:prstGeom>
          <a:noFill/>
        </p:spPr>
        <p:txBody>
          <a:bodyPr wrap="square" lIns="0" tIns="0" rIns="0" bIns="0" anchor="t">
            <a:spAutoFit/>
          </a:bodyPr>
          <a:lstStyle/>
          <a:p>
            <a:pPr algn="l">
              <a:lnSpc>
                <a:spcPct val="108000"/>
              </a:lnSpc>
              <a:spcAft>
                <a:spcPts val="800"/>
              </a:spcAft>
            </a:pPr>
            <a:r>
              <a:rPr sz="3000" b="1">
                <a:solidFill>
                  <a:srgbClr val="2DD4BF"/>
                </a:solidFill>
                <a:latin typeface="Consolas"/>
              </a:rPr>
              <a:t>5,213</a:t>
            </a:r>
          </a:p>
        </p:txBody>
      </p:sp>
      <p:sp>
        <p:nvSpPr>
          <p:cNvPr id="20" name="TextBox 19"/>
          <p:cNvSpPr txBox="1"/>
          <p:nvPr/>
        </p:nvSpPr>
        <p:spPr>
          <a:xfrm>
            <a:off x="8549640" y="5788152"/>
            <a:ext cx="3200400" cy="365760"/>
          </a:xfrm>
          <a:prstGeom prst="rect">
            <a:avLst/>
          </a:prstGeom>
          <a:noFill/>
        </p:spPr>
        <p:txBody>
          <a:bodyPr wrap="square" lIns="0" tIns="0" rIns="0" bIns="0" anchor="t">
            <a:spAutoFit/>
          </a:bodyPr>
          <a:lstStyle/>
          <a:p>
            <a:pPr algn="l">
              <a:lnSpc>
                <a:spcPct val="108000"/>
              </a:lnSpc>
              <a:spcAft>
                <a:spcPts val="800"/>
              </a:spcAft>
            </a:pPr>
            <a:r>
              <a:rPr sz="1300" b="0">
                <a:solidFill>
                  <a:srgbClr val="8CA3AD"/>
                </a:solidFill>
                <a:latin typeface="Consolas"/>
              </a:rPr>
              <a:t>HELD BACK FOR TESTING</a:t>
            </a:r>
          </a:p>
        </p:txBody>
      </p:sp>
      <p:sp>
        <p:nvSpPr>
          <p:cNvPr id="21" name="TextBox 20"/>
          <p:cNvSpPr txBox="1"/>
          <p:nvPr/>
        </p:nvSpPr>
        <p:spPr>
          <a:xfrm>
            <a:off x="685800" y="6446520"/>
            <a:ext cx="10835640" cy="320040"/>
          </a:xfrm>
          <a:prstGeom prst="rect">
            <a:avLst/>
          </a:prstGeom>
          <a:noFill/>
        </p:spPr>
        <p:txBody>
          <a:bodyPr wrap="square" lIns="0" tIns="0" rIns="0" bIns="0" anchor="t">
            <a:spAutoFit/>
          </a:bodyPr>
          <a:lstStyle/>
          <a:p>
            <a:pPr algn="l">
              <a:lnSpc>
                <a:spcPct val="108000"/>
              </a:lnSpc>
              <a:spcAft>
                <a:spcPts val="800"/>
              </a:spcAft>
            </a:pPr>
            <a:r>
              <a:rPr sz="1200" b="0">
                <a:solidFill>
                  <a:srgbClr val="8CA3AD"/>
                </a:solidFill>
                <a:latin typeface="Georgia"/>
              </a:rPr>
              <a:t>Source: MSK-IMPACT (Zehir et al., Nat Med 2017) and MSK-CHORD (Nature 2024) via cBioPortal.</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A1219"/>
        </a:solidFill>
        <a:effectLst/>
      </p:bgPr>
    </p:bg>
    <p:spTree>
      <p:nvGrpSpPr>
        <p:cNvPr id="1" name=""/>
        <p:cNvGrpSpPr/>
        <p:nvPr/>
      </p:nvGrpSpPr>
      <p:grpSpPr>
        <a:xfrm>
          <a:off x="0" y="0"/>
          <a:ext cx="0" cy="0"/>
          <a:chOff x="0" y="0"/>
          <a:chExt cx="0" cy="0"/>
        </a:xfrm>
      </p:grpSpPr>
      <p:sp>
        <p:nvSpPr>
          <p:cNvPr id="2" name="TextBox 1"/>
          <p:cNvSpPr txBox="1"/>
          <p:nvPr/>
        </p:nvSpPr>
        <p:spPr>
          <a:xfrm>
            <a:off x="11338560" y="6492240"/>
            <a:ext cx="777240" cy="274320"/>
          </a:xfrm>
          <a:prstGeom prst="rect">
            <a:avLst/>
          </a:prstGeom>
          <a:noFill/>
        </p:spPr>
        <p:txBody>
          <a:bodyPr wrap="square" lIns="0" tIns="0" rIns="0" bIns="0" anchor="t">
            <a:spAutoFit/>
          </a:bodyPr>
          <a:lstStyle/>
          <a:p>
            <a:pPr algn="r">
              <a:lnSpc>
                <a:spcPct val="108000"/>
              </a:lnSpc>
              <a:spcAft>
                <a:spcPts val="0"/>
              </a:spcAft>
            </a:pPr>
            <a:r>
              <a:rPr sz="1100" b="0">
                <a:solidFill>
                  <a:srgbClr val="8CA3AD"/>
                </a:solidFill>
                <a:latin typeface="Consolas"/>
              </a:rPr>
              <a:t>05 / 13</a:t>
            </a:r>
          </a:p>
        </p:txBody>
      </p:sp>
      <p:sp>
        <p:nvSpPr>
          <p:cNvPr id="3" name="Rectangle 2"/>
          <p:cNvSpPr/>
          <p:nvPr/>
        </p:nvSpPr>
        <p:spPr>
          <a:xfrm>
            <a:off x="713232" y="384048"/>
            <a:ext cx="502920" cy="457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566928"/>
            <a:ext cx="10835640" cy="1234440"/>
          </a:xfrm>
          <a:prstGeom prst="rect">
            <a:avLst/>
          </a:prstGeom>
          <a:noFill/>
        </p:spPr>
        <p:txBody>
          <a:bodyPr wrap="square" lIns="0" tIns="0" rIns="0" bIns="0" anchor="t">
            <a:spAutoFit/>
          </a:bodyPr>
          <a:lstStyle/>
          <a:p>
            <a:pPr algn="l">
              <a:lnSpc>
                <a:spcPct val="100000"/>
              </a:lnSpc>
              <a:spcAft>
                <a:spcPts val="800"/>
              </a:spcAft>
            </a:pPr>
            <a:r>
              <a:rPr sz="4000" b="1">
                <a:solidFill>
                  <a:srgbClr val="F2F7F6"/>
                </a:solidFill>
                <a:latin typeface="Georgia"/>
              </a:rPr>
              <a:t>It estimates the chance the next treatment fails.</a:t>
            </a:r>
          </a:p>
        </p:txBody>
      </p:sp>
      <p:pic>
        <p:nvPicPr>
          <p:cNvPr id="5" name="Picture 4" descr="v9_risk_full.png"/>
          <p:cNvPicPr>
            <a:picLocks noChangeAspect="1"/>
          </p:cNvPicPr>
          <p:nvPr/>
        </p:nvPicPr>
        <p:blipFill>
          <a:blip r:embed="rId3"/>
          <a:stretch>
            <a:fillRect/>
          </a:stretch>
        </p:blipFill>
        <p:spPr>
          <a:xfrm>
            <a:off x="640080" y="2011680"/>
            <a:ext cx="6903720" cy="3361968"/>
          </a:xfrm>
          <a:prstGeom prst="rect">
            <a:avLst/>
          </a:prstGeom>
        </p:spPr>
      </p:pic>
      <p:sp>
        <p:nvSpPr>
          <p:cNvPr id="6" name="Rectangle 5"/>
          <p:cNvSpPr/>
          <p:nvPr/>
        </p:nvSpPr>
        <p:spPr>
          <a:xfrm>
            <a:off x="640080" y="2011680"/>
            <a:ext cx="6903720" cy="3361967"/>
          </a:xfrm>
          <a:prstGeom prst="rect">
            <a:avLst/>
          </a:prstGeom>
          <a:noFill/>
          <a:ln w="12700">
            <a:solidFill>
              <a:srgbClr val="233A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5532120"/>
            <a:ext cx="6766560" cy="365760"/>
          </a:xfrm>
          <a:prstGeom prst="rect">
            <a:avLst/>
          </a:prstGeom>
          <a:noFill/>
        </p:spPr>
        <p:txBody>
          <a:bodyPr wrap="square" lIns="0" tIns="0" rIns="0" bIns="0" anchor="t">
            <a:spAutoFit/>
          </a:bodyPr>
          <a:lstStyle/>
          <a:p>
            <a:pPr algn="l">
              <a:lnSpc>
                <a:spcPct val="108000"/>
              </a:lnSpc>
              <a:spcAft>
                <a:spcPts val="800"/>
              </a:spcAft>
            </a:pPr>
            <a:r>
              <a:rPr sz="1500" b="0">
                <a:solidFill>
                  <a:srgbClr val="8CA3AD"/>
                </a:solidFill>
                <a:latin typeface="Georgia"/>
              </a:rPr>
              <a:t>A real lung cancer case, loaded from the worklist.</a:t>
            </a:r>
          </a:p>
        </p:txBody>
      </p:sp>
      <p:sp>
        <p:nvSpPr>
          <p:cNvPr id="8" name="Rounded Rectangle 7"/>
          <p:cNvSpPr/>
          <p:nvPr/>
        </p:nvSpPr>
        <p:spPr>
          <a:xfrm>
            <a:off x="7818120" y="2011680"/>
            <a:ext cx="3657600" cy="3017520"/>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8138160" y="2395727"/>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394192" y="2331720"/>
            <a:ext cx="3703319" cy="365760"/>
          </a:xfrm>
          <a:prstGeom prst="rect">
            <a:avLst/>
          </a:prstGeom>
          <a:noFill/>
        </p:spPr>
        <p:txBody>
          <a:bodyPr wrap="square" lIns="0" tIns="0" rIns="0" bIns="0" anchor="t">
            <a:spAutoFit/>
          </a:bodyPr>
          <a:lstStyle/>
          <a:p>
            <a:pPr algn="l">
              <a:lnSpc>
                <a:spcPct val="108000"/>
              </a:lnSpc>
              <a:spcAft>
                <a:spcPts val="800"/>
              </a:spcAft>
            </a:pPr>
            <a:r>
              <a:rPr sz="1300" b="1">
                <a:solidFill>
                  <a:srgbClr val="2DD4BF"/>
                </a:solidFill>
                <a:latin typeface="Consolas"/>
              </a:rPr>
              <a:t>WHAT YOU ARE SEEING</a:t>
            </a:r>
          </a:p>
        </p:txBody>
      </p:sp>
      <p:sp>
        <p:nvSpPr>
          <p:cNvPr id="11" name="TextBox 10"/>
          <p:cNvSpPr txBox="1"/>
          <p:nvPr/>
        </p:nvSpPr>
        <p:spPr>
          <a:xfrm>
            <a:off x="8138160" y="2834640"/>
            <a:ext cx="3108960" cy="2103120"/>
          </a:xfrm>
          <a:prstGeom prst="rect">
            <a:avLst/>
          </a:prstGeom>
          <a:noFill/>
        </p:spPr>
        <p:txBody>
          <a:bodyPr wrap="square" lIns="0" tIns="0" rIns="0" bIns="0" anchor="t">
            <a:spAutoFit/>
          </a:bodyPr>
          <a:lstStyle/>
          <a:p>
            <a:pPr algn="l">
              <a:lnSpc>
                <a:spcPct val="108000"/>
              </a:lnSpc>
              <a:spcAft>
                <a:spcPts val="1200"/>
              </a:spcAft>
            </a:pPr>
            <a:r>
              <a:rPr sz="1700" b="0">
                <a:solidFill>
                  <a:srgbClr val="F2F7F6"/>
                </a:solidFill>
                <a:latin typeface="Georgia"/>
              </a:rPr>
              <a:t>a 53 percent risk score</a:t>
            </a:r>
          </a:p>
          <a:p>
            <a:pPr algn="l">
              <a:lnSpc>
                <a:spcPct val="108000"/>
              </a:lnSpc>
              <a:spcAft>
                <a:spcPts val="1200"/>
              </a:spcAft>
            </a:pPr>
            <a:r>
              <a:rPr sz="1700" b="0">
                <a:solidFill>
                  <a:srgbClr val="F2F7F6"/>
                </a:solidFill>
                <a:latin typeface="Georgia"/>
              </a:rPr>
              <a:t>an honest uncertainty band</a:t>
            </a:r>
          </a:p>
          <a:p>
            <a:pPr algn="l">
              <a:lnSpc>
                <a:spcPct val="108000"/>
              </a:lnSpc>
              <a:spcAft>
                <a:spcPts val="1200"/>
              </a:spcAft>
            </a:pPr>
            <a:r>
              <a:rPr sz="1700" b="0">
                <a:solidFill>
                  <a:srgbClr val="F2F7F6"/>
                </a:solidFill>
                <a:latin typeface="Georgia"/>
              </a:rPr>
              <a:t>32nd percentile in the corpus</a:t>
            </a:r>
          </a:p>
          <a:p>
            <a:pPr algn="l">
              <a:lnSpc>
                <a:spcPct val="108000"/>
              </a:lnSpc>
              <a:spcAft>
                <a:spcPts val="1200"/>
              </a:spcAft>
            </a:pPr>
            <a:r>
              <a:rPr sz="1700" b="0">
                <a:solidFill>
                  <a:srgbClr val="F2F7F6"/>
                </a:solidFill>
                <a:latin typeface="Georgia"/>
              </a:rPr>
              <a:t>2 mechanisms flagged by name</a:t>
            </a:r>
          </a:p>
        </p:txBody>
      </p:sp>
      <p:sp>
        <p:nvSpPr>
          <p:cNvPr id="12" name="Rectangle 11"/>
          <p:cNvSpPr/>
          <p:nvPr/>
        </p:nvSpPr>
        <p:spPr>
          <a:xfrm>
            <a:off x="7818120" y="5413248"/>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074152" y="5349240"/>
            <a:ext cx="4023359" cy="365760"/>
          </a:xfrm>
          <a:prstGeom prst="rect">
            <a:avLst/>
          </a:prstGeom>
          <a:noFill/>
        </p:spPr>
        <p:txBody>
          <a:bodyPr wrap="square" lIns="0" tIns="0" rIns="0" bIns="0" anchor="t">
            <a:spAutoFit/>
          </a:bodyPr>
          <a:lstStyle/>
          <a:p>
            <a:pPr algn="l">
              <a:lnSpc>
                <a:spcPct val="108000"/>
              </a:lnSpc>
              <a:spcAft>
                <a:spcPts val="800"/>
              </a:spcAft>
            </a:pPr>
            <a:r>
              <a:rPr sz="1300" b="1">
                <a:solidFill>
                  <a:srgbClr val="2DD4BF"/>
                </a:solidFill>
                <a:latin typeface="Consolas"/>
              </a:rPr>
              <a:t>TRY IT LIVE</a:t>
            </a:r>
          </a:p>
        </p:txBody>
      </p:sp>
      <p:sp>
        <p:nvSpPr>
          <p:cNvPr id="14" name="TextBox 13"/>
          <p:cNvSpPr txBox="1"/>
          <p:nvPr/>
        </p:nvSpPr>
        <p:spPr>
          <a:xfrm>
            <a:off x="7818120" y="5760720"/>
            <a:ext cx="3657600" cy="457200"/>
          </a:xfrm>
          <a:prstGeom prst="rect">
            <a:avLst/>
          </a:prstGeom>
          <a:noFill/>
        </p:spPr>
        <p:txBody>
          <a:bodyPr wrap="square" lIns="0" tIns="0" rIns="0" bIns="0" anchor="t">
            <a:spAutoFit/>
          </a:bodyPr>
          <a:lstStyle/>
          <a:p>
            <a:pPr algn="l">
              <a:lnSpc>
                <a:spcPct val="108000"/>
              </a:lnSpc>
              <a:spcAft>
                <a:spcPts val="800"/>
              </a:spcAft>
            </a:pPr>
            <a:r>
              <a:rPr sz="1600" b="0" u="sng">
                <a:solidFill>
                  <a:srgbClr val="2DD4BF"/>
                </a:solidFill>
                <a:latin typeface="Consolas"/>
                <a:hlinkClick r:id="rId4"/>
              </a:rPr>
              <a:t>resistanceai.streamlit.app</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A1219"/>
        </a:solidFill>
        <a:effectLst/>
      </p:bgPr>
    </p:bg>
    <p:spTree>
      <p:nvGrpSpPr>
        <p:cNvPr id="1" name=""/>
        <p:cNvGrpSpPr/>
        <p:nvPr/>
      </p:nvGrpSpPr>
      <p:grpSpPr>
        <a:xfrm>
          <a:off x="0" y="0"/>
          <a:ext cx="0" cy="0"/>
          <a:chOff x="0" y="0"/>
          <a:chExt cx="0" cy="0"/>
        </a:xfrm>
      </p:grpSpPr>
      <p:sp>
        <p:nvSpPr>
          <p:cNvPr id="2" name="TextBox 1"/>
          <p:cNvSpPr txBox="1"/>
          <p:nvPr/>
        </p:nvSpPr>
        <p:spPr>
          <a:xfrm>
            <a:off x="11338560" y="6492240"/>
            <a:ext cx="777240" cy="274320"/>
          </a:xfrm>
          <a:prstGeom prst="rect">
            <a:avLst/>
          </a:prstGeom>
          <a:noFill/>
        </p:spPr>
        <p:txBody>
          <a:bodyPr wrap="square" lIns="0" tIns="0" rIns="0" bIns="0" anchor="t">
            <a:spAutoFit/>
          </a:bodyPr>
          <a:lstStyle/>
          <a:p>
            <a:pPr algn="r">
              <a:lnSpc>
                <a:spcPct val="108000"/>
              </a:lnSpc>
              <a:spcAft>
                <a:spcPts val="0"/>
              </a:spcAft>
            </a:pPr>
            <a:r>
              <a:rPr sz="1100" b="0">
                <a:solidFill>
                  <a:srgbClr val="8CA3AD"/>
                </a:solidFill>
                <a:latin typeface="Consolas"/>
              </a:rPr>
              <a:t>06 / 13</a:t>
            </a:r>
          </a:p>
        </p:txBody>
      </p:sp>
      <p:sp>
        <p:nvSpPr>
          <p:cNvPr id="3" name="Rectangle 2"/>
          <p:cNvSpPr/>
          <p:nvPr/>
        </p:nvSpPr>
        <p:spPr>
          <a:xfrm>
            <a:off x="713232" y="384048"/>
            <a:ext cx="502920" cy="457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566928"/>
            <a:ext cx="10835640" cy="1234440"/>
          </a:xfrm>
          <a:prstGeom prst="rect">
            <a:avLst/>
          </a:prstGeom>
          <a:noFill/>
        </p:spPr>
        <p:txBody>
          <a:bodyPr wrap="square" lIns="0" tIns="0" rIns="0" bIns="0" anchor="t">
            <a:spAutoFit/>
          </a:bodyPr>
          <a:lstStyle/>
          <a:p>
            <a:pPr algn="l">
              <a:lnSpc>
                <a:spcPct val="100000"/>
              </a:lnSpc>
              <a:spcAft>
                <a:spcPts val="800"/>
              </a:spcAft>
            </a:pPr>
            <a:r>
              <a:rPr sz="4000" b="1">
                <a:solidFill>
                  <a:srgbClr val="F2F7F6"/>
                </a:solidFill>
                <a:latin typeface="Georgia"/>
              </a:rPr>
              <a:t>It shows exactly which evidence moved the number.</a:t>
            </a:r>
          </a:p>
        </p:txBody>
      </p:sp>
      <p:pic>
        <p:nvPicPr>
          <p:cNvPr id="5" name="Picture 4" descr="v9_attrib.png"/>
          <p:cNvPicPr>
            <a:picLocks noChangeAspect="1"/>
          </p:cNvPicPr>
          <p:nvPr/>
        </p:nvPicPr>
        <p:blipFill>
          <a:blip r:embed="rId3"/>
          <a:stretch>
            <a:fillRect/>
          </a:stretch>
        </p:blipFill>
        <p:spPr>
          <a:xfrm>
            <a:off x="640080" y="1965960"/>
            <a:ext cx="7223760" cy="3728514"/>
          </a:xfrm>
          <a:prstGeom prst="rect">
            <a:avLst/>
          </a:prstGeom>
        </p:spPr>
      </p:pic>
      <p:sp>
        <p:nvSpPr>
          <p:cNvPr id="6" name="Rectangle 5"/>
          <p:cNvSpPr/>
          <p:nvPr/>
        </p:nvSpPr>
        <p:spPr>
          <a:xfrm>
            <a:off x="640080" y="1965960"/>
            <a:ext cx="7223760" cy="3728513"/>
          </a:xfrm>
          <a:prstGeom prst="rect">
            <a:avLst/>
          </a:prstGeom>
          <a:noFill/>
          <a:ln w="12700">
            <a:solidFill>
              <a:srgbClr val="233A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5852160"/>
            <a:ext cx="6949440" cy="365760"/>
          </a:xfrm>
          <a:prstGeom prst="rect">
            <a:avLst/>
          </a:prstGeom>
          <a:noFill/>
        </p:spPr>
        <p:txBody>
          <a:bodyPr wrap="square" lIns="0" tIns="0" rIns="0" bIns="0" anchor="t">
            <a:spAutoFit/>
          </a:bodyPr>
          <a:lstStyle/>
          <a:p>
            <a:pPr algn="l">
              <a:lnSpc>
                <a:spcPct val="108000"/>
              </a:lnSpc>
              <a:spcAft>
                <a:spcPts val="800"/>
              </a:spcAft>
            </a:pPr>
            <a:r>
              <a:rPr sz="1500" b="0">
                <a:solidFill>
                  <a:srgbClr val="8CA3AD"/>
                </a:solidFill>
                <a:latin typeface="Georgia"/>
              </a:rPr>
              <a:t>Left: what moved the score. Right: the cited evidence.</a:t>
            </a:r>
          </a:p>
        </p:txBody>
      </p:sp>
      <p:sp>
        <p:nvSpPr>
          <p:cNvPr id="8" name="Rounded Rectangle 7"/>
          <p:cNvSpPr/>
          <p:nvPr/>
        </p:nvSpPr>
        <p:spPr>
          <a:xfrm>
            <a:off x="8046720" y="1965960"/>
            <a:ext cx="3429000" cy="3977639"/>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8321040" y="2350008"/>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577072" y="2286000"/>
            <a:ext cx="3520439" cy="365760"/>
          </a:xfrm>
          <a:prstGeom prst="rect">
            <a:avLst/>
          </a:prstGeom>
          <a:noFill/>
        </p:spPr>
        <p:txBody>
          <a:bodyPr wrap="square" lIns="0" tIns="0" rIns="0" bIns="0" anchor="t">
            <a:spAutoFit/>
          </a:bodyPr>
          <a:lstStyle/>
          <a:p>
            <a:pPr algn="l">
              <a:lnSpc>
                <a:spcPct val="108000"/>
              </a:lnSpc>
              <a:spcAft>
                <a:spcPts val="800"/>
              </a:spcAft>
            </a:pPr>
            <a:r>
              <a:rPr sz="1300" b="1">
                <a:solidFill>
                  <a:srgbClr val="2DD4BF"/>
                </a:solidFill>
                <a:latin typeface="Consolas"/>
              </a:rPr>
              <a:t>WHAT THE CARDS CITE</a:t>
            </a:r>
          </a:p>
        </p:txBody>
      </p:sp>
      <p:sp>
        <p:nvSpPr>
          <p:cNvPr id="11" name="TextBox 10"/>
          <p:cNvSpPr txBox="1"/>
          <p:nvPr/>
        </p:nvSpPr>
        <p:spPr>
          <a:xfrm>
            <a:off x="8321040" y="2788920"/>
            <a:ext cx="2926080" cy="2926080"/>
          </a:xfrm>
          <a:prstGeom prst="rect">
            <a:avLst/>
          </a:prstGeom>
          <a:noFill/>
        </p:spPr>
        <p:txBody>
          <a:bodyPr wrap="square" lIns="0" tIns="0" rIns="0" bIns="0" anchor="t">
            <a:spAutoFit/>
          </a:bodyPr>
          <a:lstStyle/>
          <a:p>
            <a:pPr algn="l">
              <a:lnSpc>
                <a:spcPct val="108000"/>
              </a:lnSpc>
              <a:spcAft>
                <a:spcPts val="1400"/>
              </a:spcAft>
            </a:pPr>
            <a:r>
              <a:rPr sz="1600" b="0">
                <a:solidFill>
                  <a:srgbClr val="F2F7F6"/>
                </a:solidFill>
                <a:latin typeface="Georgia"/>
              </a:rPr>
              <a:t>STK11/KEAP1 cold tumor warning</a:t>
            </a:r>
          </a:p>
          <a:p>
            <a:pPr algn="l">
              <a:lnSpc>
                <a:spcPct val="108000"/>
              </a:lnSpc>
              <a:spcAft>
                <a:spcPts val="1400"/>
              </a:spcAft>
            </a:pPr>
            <a:r>
              <a:rPr sz="1600" b="0">
                <a:solidFill>
                  <a:srgbClr val="F2F7F6"/>
                </a:solidFill>
                <a:latin typeface="Georgia"/>
              </a:rPr>
              <a:t>HRD context: PARP drug sensitivity</a:t>
            </a:r>
          </a:p>
          <a:p>
            <a:pPr algn="l">
              <a:lnSpc>
                <a:spcPct val="108000"/>
              </a:lnSpc>
              <a:spcAft>
                <a:spcPts val="1400"/>
              </a:spcAft>
            </a:pPr>
            <a:r>
              <a:rPr sz="1600" b="0">
                <a:solidFill>
                  <a:srgbClr val="F2F7F6"/>
                </a:solidFill>
                <a:latin typeface="Georgia"/>
              </a:rPr>
              <a:t>MSI or POLE: checkpoint response</a:t>
            </a:r>
          </a:p>
          <a:p>
            <a:pPr algn="l">
              <a:lnSpc>
                <a:spcPct val="108000"/>
              </a:lnSpc>
              <a:spcAft>
                <a:spcPts val="1400"/>
              </a:spcAft>
            </a:pPr>
            <a:r>
              <a:rPr sz="1600" b="0">
                <a:solidFill>
                  <a:srgbClr val="F2F7F6"/>
                </a:solidFill>
                <a:latin typeface="Georgia"/>
              </a:rPr>
              <a:t>each names the mutation it found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A1219"/>
        </a:solidFill>
        <a:effectLst/>
      </p:bgPr>
    </p:bg>
    <p:spTree>
      <p:nvGrpSpPr>
        <p:cNvPr id="1" name=""/>
        <p:cNvGrpSpPr/>
        <p:nvPr/>
      </p:nvGrpSpPr>
      <p:grpSpPr>
        <a:xfrm>
          <a:off x="0" y="0"/>
          <a:ext cx="0" cy="0"/>
          <a:chOff x="0" y="0"/>
          <a:chExt cx="0" cy="0"/>
        </a:xfrm>
      </p:grpSpPr>
      <p:sp>
        <p:nvSpPr>
          <p:cNvPr id="2" name="TextBox 1"/>
          <p:cNvSpPr txBox="1"/>
          <p:nvPr/>
        </p:nvSpPr>
        <p:spPr>
          <a:xfrm>
            <a:off x="11338560" y="6492240"/>
            <a:ext cx="777240" cy="274320"/>
          </a:xfrm>
          <a:prstGeom prst="rect">
            <a:avLst/>
          </a:prstGeom>
          <a:noFill/>
        </p:spPr>
        <p:txBody>
          <a:bodyPr wrap="square" lIns="0" tIns="0" rIns="0" bIns="0" anchor="t">
            <a:spAutoFit/>
          </a:bodyPr>
          <a:lstStyle/>
          <a:p>
            <a:pPr algn="r">
              <a:lnSpc>
                <a:spcPct val="108000"/>
              </a:lnSpc>
              <a:spcAft>
                <a:spcPts val="0"/>
              </a:spcAft>
            </a:pPr>
            <a:r>
              <a:rPr sz="1100" b="0">
                <a:solidFill>
                  <a:srgbClr val="8CA3AD"/>
                </a:solidFill>
                <a:latin typeface="Consolas"/>
              </a:rPr>
              <a:t>07 / 13</a:t>
            </a:r>
          </a:p>
        </p:txBody>
      </p:sp>
      <p:sp>
        <p:nvSpPr>
          <p:cNvPr id="3" name="Rectangle 2"/>
          <p:cNvSpPr/>
          <p:nvPr/>
        </p:nvSpPr>
        <p:spPr>
          <a:xfrm>
            <a:off x="713232" y="384048"/>
            <a:ext cx="502920" cy="457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566928"/>
            <a:ext cx="10835640" cy="1234440"/>
          </a:xfrm>
          <a:prstGeom prst="rect">
            <a:avLst/>
          </a:prstGeom>
          <a:noFill/>
        </p:spPr>
        <p:txBody>
          <a:bodyPr wrap="square" lIns="0" tIns="0" rIns="0" bIns="0" anchor="t">
            <a:spAutoFit/>
          </a:bodyPr>
          <a:lstStyle/>
          <a:p>
            <a:pPr algn="l">
              <a:lnSpc>
                <a:spcPct val="100000"/>
              </a:lnSpc>
              <a:spcAft>
                <a:spcPts val="800"/>
              </a:spcAft>
            </a:pPr>
            <a:r>
              <a:rPr sz="4000" b="1">
                <a:solidFill>
                  <a:srgbClr val="F2F7F6"/>
                </a:solidFill>
                <a:latin typeface="Georgia"/>
              </a:rPr>
              <a:t>Then it lines up what is worth trying next.</a:t>
            </a:r>
          </a:p>
        </p:txBody>
      </p:sp>
      <p:pic>
        <p:nvPicPr>
          <p:cNvPr id="5" name="Picture 4" descr="v9_therapies.png"/>
          <p:cNvPicPr>
            <a:picLocks noChangeAspect="1"/>
          </p:cNvPicPr>
          <p:nvPr/>
        </p:nvPicPr>
        <p:blipFill>
          <a:blip r:embed="rId3"/>
          <a:stretch>
            <a:fillRect/>
          </a:stretch>
        </p:blipFill>
        <p:spPr>
          <a:xfrm>
            <a:off x="685800" y="1965960"/>
            <a:ext cx="5212080" cy="2931795"/>
          </a:xfrm>
          <a:prstGeom prst="rect">
            <a:avLst/>
          </a:prstGeom>
        </p:spPr>
      </p:pic>
      <p:sp>
        <p:nvSpPr>
          <p:cNvPr id="6" name="Rectangle 5"/>
          <p:cNvSpPr/>
          <p:nvPr/>
        </p:nvSpPr>
        <p:spPr>
          <a:xfrm>
            <a:off x="685800" y="1965960"/>
            <a:ext cx="5212080" cy="2931795"/>
          </a:xfrm>
          <a:prstGeom prst="rect">
            <a:avLst/>
          </a:prstGeom>
          <a:noFill/>
          <a:ln w="12700">
            <a:solidFill>
              <a:srgbClr val="233A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v9_twins.png"/>
          <p:cNvPicPr>
            <a:picLocks noChangeAspect="1"/>
          </p:cNvPicPr>
          <p:nvPr/>
        </p:nvPicPr>
        <p:blipFill>
          <a:blip r:embed="rId4"/>
          <a:stretch>
            <a:fillRect/>
          </a:stretch>
        </p:blipFill>
        <p:spPr>
          <a:xfrm>
            <a:off x="6309360" y="1965960"/>
            <a:ext cx="5212080" cy="2931795"/>
          </a:xfrm>
          <a:prstGeom prst="rect">
            <a:avLst/>
          </a:prstGeom>
        </p:spPr>
      </p:pic>
      <p:sp>
        <p:nvSpPr>
          <p:cNvPr id="8" name="Rectangle 7"/>
          <p:cNvSpPr/>
          <p:nvPr/>
        </p:nvSpPr>
        <p:spPr>
          <a:xfrm>
            <a:off x="6309360" y="1965960"/>
            <a:ext cx="5212080" cy="2931795"/>
          </a:xfrm>
          <a:prstGeom prst="rect">
            <a:avLst/>
          </a:prstGeom>
          <a:noFill/>
          <a:ln w="12700">
            <a:solidFill>
              <a:srgbClr val="233A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731520" y="5138928"/>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87552" y="5074920"/>
            <a:ext cx="6400800" cy="365760"/>
          </a:xfrm>
          <a:prstGeom prst="rect">
            <a:avLst/>
          </a:prstGeom>
          <a:noFill/>
        </p:spPr>
        <p:txBody>
          <a:bodyPr wrap="square" lIns="0" tIns="0" rIns="0" bIns="0" anchor="t">
            <a:spAutoFit/>
          </a:bodyPr>
          <a:lstStyle/>
          <a:p>
            <a:pPr algn="l">
              <a:lnSpc>
                <a:spcPct val="108000"/>
              </a:lnSpc>
              <a:spcAft>
                <a:spcPts val="800"/>
              </a:spcAft>
            </a:pPr>
            <a:r>
              <a:rPr sz="1300" b="1">
                <a:solidFill>
                  <a:srgbClr val="2DD4BF"/>
                </a:solidFill>
                <a:latin typeface="Consolas"/>
              </a:rPr>
              <a:t>DRUGS + TRIALS</a:t>
            </a:r>
          </a:p>
        </p:txBody>
      </p:sp>
      <p:sp>
        <p:nvSpPr>
          <p:cNvPr id="11" name="TextBox 10"/>
          <p:cNvSpPr txBox="1"/>
          <p:nvPr/>
        </p:nvSpPr>
        <p:spPr>
          <a:xfrm>
            <a:off x="731520" y="5486400"/>
            <a:ext cx="5029200" cy="822960"/>
          </a:xfrm>
          <a:prstGeom prst="rect">
            <a:avLst/>
          </a:prstGeom>
          <a:noFill/>
        </p:spPr>
        <p:txBody>
          <a:bodyPr wrap="square" lIns="0" tIns="0" rIns="0" bIns="0" anchor="t">
            <a:spAutoFit/>
          </a:bodyPr>
          <a:lstStyle/>
          <a:p>
            <a:pPr algn="l">
              <a:lnSpc>
                <a:spcPct val="115000"/>
              </a:lnSpc>
              <a:spcAft>
                <a:spcPts val="800"/>
              </a:spcAft>
            </a:pPr>
            <a:r>
              <a:rPr sz="1600" b="0">
                <a:solidFill>
                  <a:srgbClr val="8CA3AD"/>
                </a:solidFill>
                <a:latin typeface="Georgia"/>
              </a:rPr>
              <a:t>Regimens matched to this tumor's mutations; recruiting trials arrive live from ClinicalTrials.gov.</a:t>
            </a:r>
          </a:p>
        </p:txBody>
      </p:sp>
      <p:sp>
        <p:nvSpPr>
          <p:cNvPr id="12" name="Rectangle 11"/>
          <p:cNvSpPr/>
          <p:nvPr/>
        </p:nvSpPr>
        <p:spPr>
          <a:xfrm>
            <a:off x="6355080" y="5138928"/>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611112" y="5074920"/>
            <a:ext cx="5486399" cy="365760"/>
          </a:xfrm>
          <a:prstGeom prst="rect">
            <a:avLst/>
          </a:prstGeom>
          <a:noFill/>
        </p:spPr>
        <p:txBody>
          <a:bodyPr wrap="square" lIns="0" tIns="0" rIns="0" bIns="0" anchor="t">
            <a:spAutoFit/>
          </a:bodyPr>
          <a:lstStyle/>
          <a:p>
            <a:pPr algn="l">
              <a:lnSpc>
                <a:spcPct val="108000"/>
              </a:lnSpc>
              <a:spcAft>
                <a:spcPts val="800"/>
              </a:spcAft>
            </a:pPr>
            <a:r>
              <a:rPr sz="1300" b="1">
                <a:solidFill>
                  <a:srgbClr val="2DD4BF"/>
                </a:solidFill>
                <a:latin typeface="Consolas"/>
              </a:rPr>
              <a:t>SIMILAR PATIENTS</a:t>
            </a:r>
          </a:p>
        </p:txBody>
      </p:sp>
      <p:sp>
        <p:nvSpPr>
          <p:cNvPr id="14" name="TextBox 13"/>
          <p:cNvSpPr txBox="1"/>
          <p:nvPr/>
        </p:nvSpPr>
        <p:spPr>
          <a:xfrm>
            <a:off x="6355080" y="5486400"/>
            <a:ext cx="5029200" cy="822960"/>
          </a:xfrm>
          <a:prstGeom prst="rect">
            <a:avLst/>
          </a:prstGeom>
          <a:noFill/>
        </p:spPr>
        <p:txBody>
          <a:bodyPr wrap="square" lIns="0" tIns="0" rIns="0" bIns="0" anchor="t">
            <a:spAutoFit/>
          </a:bodyPr>
          <a:lstStyle/>
          <a:p>
            <a:pPr algn="l">
              <a:lnSpc>
                <a:spcPct val="115000"/>
              </a:lnSpc>
              <a:spcAft>
                <a:spcPts val="800"/>
              </a:spcAft>
            </a:pPr>
            <a:r>
              <a:rPr sz="1600" b="0">
                <a:solidFill>
                  <a:srgbClr val="8CA3AD"/>
                </a:solidFill>
                <a:latin typeface="Georgia"/>
              </a:rPr>
              <a:t>What happened to the 8 nearest real patients: survival and failure rate.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A1219"/>
        </a:solidFill>
        <a:effectLst/>
      </p:bgPr>
    </p:bg>
    <p:spTree>
      <p:nvGrpSpPr>
        <p:cNvPr id="1" name=""/>
        <p:cNvGrpSpPr/>
        <p:nvPr/>
      </p:nvGrpSpPr>
      <p:grpSpPr>
        <a:xfrm>
          <a:off x="0" y="0"/>
          <a:ext cx="0" cy="0"/>
          <a:chOff x="0" y="0"/>
          <a:chExt cx="0" cy="0"/>
        </a:xfrm>
      </p:grpSpPr>
      <p:sp>
        <p:nvSpPr>
          <p:cNvPr id="2" name="TextBox 1"/>
          <p:cNvSpPr txBox="1"/>
          <p:nvPr/>
        </p:nvSpPr>
        <p:spPr>
          <a:xfrm>
            <a:off x="11338560" y="6492240"/>
            <a:ext cx="777240" cy="274320"/>
          </a:xfrm>
          <a:prstGeom prst="rect">
            <a:avLst/>
          </a:prstGeom>
          <a:noFill/>
        </p:spPr>
        <p:txBody>
          <a:bodyPr wrap="square" lIns="0" tIns="0" rIns="0" bIns="0" anchor="t">
            <a:spAutoFit/>
          </a:bodyPr>
          <a:lstStyle/>
          <a:p>
            <a:pPr algn="r">
              <a:lnSpc>
                <a:spcPct val="108000"/>
              </a:lnSpc>
              <a:spcAft>
                <a:spcPts val="0"/>
              </a:spcAft>
            </a:pPr>
            <a:r>
              <a:rPr sz="1100" b="0">
                <a:solidFill>
                  <a:srgbClr val="8CA3AD"/>
                </a:solidFill>
                <a:latin typeface="Consolas"/>
              </a:rPr>
              <a:t>08 / 13</a:t>
            </a:r>
          </a:p>
        </p:txBody>
      </p:sp>
      <p:sp>
        <p:nvSpPr>
          <p:cNvPr id="3" name="Rectangle 2"/>
          <p:cNvSpPr/>
          <p:nvPr/>
        </p:nvSpPr>
        <p:spPr>
          <a:xfrm>
            <a:off x="713232" y="384048"/>
            <a:ext cx="502920" cy="457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566928"/>
            <a:ext cx="10835640" cy="1234440"/>
          </a:xfrm>
          <a:prstGeom prst="rect">
            <a:avLst/>
          </a:prstGeom>
          <a:noFill/>
        </p:spPr>
        <p:txBody>
          <a:bodyPr wrap="square" lIns="0" tIns="0" rIns="0" bIns="0" anchor="t">
            <a:spAutoFit/>
          </a:bodyPr>
          <a:lstStyle/>
          <a:p>
            <a:pPr algn="l">
              <a:lnSpc>
                <a:spcPct val="100000"/>
              </a:lnSpc>
              <a:spcAft>
                <a:spcPts val="800"/>
              </a:spcAft>
            </a:pPr>
            <a:r>
              <a:rPr sz="4000" b="1">
                <a:solidFill>
                  <a:srgbClr val="F2F7F6"/>
                </a:solidFill>
                <a:latin typeface="Georgia"/>
              </a:rPr>
              <a:t>Behind the screen, four steps a doctor can inspect.</a:t>
            </a:r>
          </a:p>
        </p:txBody>
      </p:sp>
      <p:sp>
        <p:nvSpPr>
          <p:cNvPr id="5" name="Rounded Rectangle 4"/>
          <p:cNvSpPr/>
          <p:nvPr/>
        </p:nvSpPr>
        <p:spPr>
          <a:xfrm>
            <a:off x="777240" y="2240280"/>
            <a:ext cx="2331720" cy="1783080"/>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395728"/>
            <a:ext cx="2331720" cy="548640"/>
          </a:xfrm>
          <a:prstGeom prst="rect">
            <a:avLst/>
          </a:prstGeom>
          <a:noFill/>
        </p:spPr>
        <p:txBody>
          <a:bodyPr wrap="square" lIns="0" tIns="0" rIns="0" bIns="0" anchor="t">
            <a:spAutoFit/>
          </a:bodyPr>
          <a:lstStyle/>
          <a:p>
            <a:pPr algn="ctr">
              <a:lnSpc>
                <a:spcPct val="108000"/>
              </a:lnSpc>
              <a:spcAft>
                <a:spcPts val="800"/>
              </a:spcAft>
            </a:pPr>
            <a:r>
              <a:rPr sz="2800" b="1">
                <a:solidFill>
                  <a:srgbClr val="2DD4BF"/>
                </a:solidFill>
                <a:latin typeface="Consolas"/>
              </a:rPr>
              <a:t>1</a:t>
            </a:r>
          </a:p>
        </p:txBody>
      </p:sp>
      <p:sp>
        <p:nvSpPr>
          <p:cNvPr id="7" name="TextBox 6"/>
          <p:cNvSpPr txBox="1"/>
          <p:nvPr/>
        </p:nvSpPr>
        <p:spPr>
          <a:xfrm>
            <a:off x="914400" y="3017520"/>
            <a:ext cx="2057400" cy="502920"/>
          </a:xfrm>
          <a:prstGeom prst="rect">
            <a:avLst/>
          </a:prstGeom>
          <a:noFill/>
        </p:spPr>
        <p:txBody>
          <a:bodyPr wrap="square" lIns="0" tIns="0" rIns="0" bIns="0" anchor="t">
            <a:spAutoFit/>
          </a:bodyPr>
          <a:lstStyle/>
          <a:p>
            <a:pPr algn="ctr">
              <a:lnSpc>
                <a:spcPct val="108000"/>
              </a:lnSpc>
              <a:spcAft>
                <a:spcPts val="800"/>
              </a:spcAft>
            </a:pPr>
            <a:r>
              <a:rPr sz="2200" b="1">
                <a:solidFill>
                  <a:srgbClr val="F2F7F6"/>
                </a:solidFill>
                <a:latin typeface="Georgia"/>
              </a:rPr>
              <a:t>DNA report</a:t>
            </a:r>
          </a:p>
        </p:txBody>
      </p:sp>
      <p:sp>
        <p:nvSpPr>
          <p:cNvPr id="8" name="TextBox 7"/>
          <p:cNvSpPr txBox="1"/>
          <p:nvPr/>
        </p:nvSpPr>
        <p:spPr>
          <a:xfrm>
            <a:off x="914400" y="3547872"/>
            <a:ext cx="2057400" cy="411480"/>
          </a:xfrm>
          <a:prstGeom prst="rect">
            <a:avLst/>
          </a:prstGeom>
          <a:noFill/>
        </p:spPr>
        <p:txBody>
          <a:bodyPr wrap="square" lIns="0" tIns="0" rIns="0" bIns="0" anchor="t">
            <a:spAutoFit/>
          </a:bodyPr>
          <a:lstStyle/>
          <a:p>
            <a:pPr algn="ctr">
              <a:lnSpc>
                <a:spcPct val="108000"/>
              </a:lnSpc>
              <a:spcAft>
                <a:spcPts val="800"/>
              </a:spcAft>
            </a:pPr>
            <a:r>
              <a:rPr sz="1400" b="0">
                <a:solidFill>
                  <a:srgbClr val="8CA3AD"/>
                </a:solidFill>
                <a:latin typeface="Georgia"/>
              </a:rPr>
              <a:t>sequencing file</a:t>
            </a:r>
          </a:p>
        </p:txBody>
      </p:sp>
      <p:sp>
        <p:nvSpPr>
          <p:cNvPr id="9" name="TextBox 8"/>
          <p:cNvSpPr txBox="1"/>
          <p:nvPr/>
        </p:nvSpPr>
        <p:spPr>
          <a:xfrm>
            <a:off x="3163824" y="2788920"/>
            <a:ext cx="548640" cy="640080"/>
          </a:xfrm>
          <a:prstGeom prst="rect">
            <a:avLst/>
          </a:prstGeom>
          <a:noFill/>
        </p:spPr>
        <p:txBody>
          <a:bodyPr wrap="square" lIns="0" tIns="0" rIns="0" bIns="0" anchor="t">
            <a:spAutoFit/>
          </a:bodyPr>
          <a:lstStyle/>
          <a:p>
            <a:pPr algn="ctr">
              <a:lnSpc>
                <a:spcPct val="108000"/>
              </a:lnSpc>
              <a:spcAft>
                <a:spcPts val="800"/>
              </a:spcAft>
            </a:pPr>
            <a:r>
              <a:rPr sz="3600" b="0">
                <a:solidFill>
                  <a:srgbClr val="2DD4BF"/>
                </a:solidFill>
                <a:latin typeface="Georgia"/>
              </a:rPr>
              <a:t>›</a:t>
            </a:r>
          </a:p>
        </p:txBody>
      </p:sp>
      <p:sp>
        <p:nvSpPr>
          <p:cNvPr id="10" name="Rounded Rectangle 9"/>
          <p:cNvSpPr/>
          <p:nvPr/>
        </p:nvSpPr>
        <p:spPr>
          <a:xfrm>
            <a:off x="3639312" y="2240280"/>
            <a:ext cx="2331720" cy="1783080"/>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639312" y="2395728"/>
            <a:ext cx="2331720" cy="548640"/>
          </a:xfrm>
          <a:prstGeom prst="rect">
            <a:avLst/>
          </a:prstGeom>
          <a:noFill/>
        </p:spPr>
        <p:txBody>
          <a:bodyPr wrap="square" lIns="0" tIns="0" rIns="0" bIns="0" anchor="t">
            <a:spAutoFit/>
          </a:bodyPr>
          <a:lstStyle/>
          <a:p>
            <a:pPr algn="ctr">
              <a:lnSpc>
                <a:spcPct val="108000"/>
              </a:lnSpc>
              <a:spcAft>
                <a:spcPts val="800"/>
              </a:spcAft>
            </a:pPr>
            <a:r>
              <a:rPr sz="2800" b="1">
                <a:solidFill>
                  <a:srgbClr val="2DD4BF"/>
                </a:solidFill>
                <a:latin typeface="Consolas"/>
              </a:rPr>
              <a:t>2</a:t>
            </a:r>
          </a:p>
        </p:txBody>
      </p:sp>
      <p:sp>
        <p:nvSpPr>
          <p:cNvPr id="12" name="TextBox 11"/>
          <p:cNvSpPr txBox="1"/>
          <p:nvPr/>
        </p:nvSpPr>
        <p:spPr>
          <a:xfrm>
            <a:off x="3776472" y="3017520"/>
            <a:ext cx="2057400" cy="502920"/>
          </a:xfrm>
          <a:prstGeom prst="rect">
            <a:avLst/>
          </a:prstGeom>
          <a:noFill/>
        </p:spPr>
        <p:txBody>
          <a:bodyPr wrap="square" lIns="0" tIns="0" rIns="0" bIns="0" anchor="t">
            <a:spAutoFit/>
          </a:bodyPr>
          <a:lstStyle/>
          <a:p>
            <a:pPr algn="ctr">
              <a:lnSpc>
                <a:spcPct val="108000"/>
              </a:lnSpc>
              <a:spcAft>
                <a:spcPts val="800"/>
              </a:spcAft>
            </a:pPr>
            <a:r>
              <a:rPr sz="2200" b="1">
                <a:solidFill>
                  <a:srgbClr val="F2F7F6"/>
                </a:solidFill>
                <a:latin typeface="Georgia"/>
              </a:rPr>
              <a:t>201 signals</a:t>
            </a:r>
          </a:p>
        </p:txBody>
      </p:sp>
      <p:sp>
        <p:nvSpPr>
          <p:cNvPr id="13" name="TextBox 12"/>
          <p:cNvSpPr txBox="1"/>
          <p:nvPr/>
        </p:nvSpPr>
        <p:spPr>
          <a:xfrm>
            <a:off x="3776472" y="3547872"/>
            <a:ext cx="2057400" cy="411480"/>
          </a:xfrm>
          <a:prstGeom prst="rect">
            <a:avLst/>
          </a:prstGeom>
          <a:noFill/>
        </p:spPr>
        <p:txBody>
          <a:bodyPr wrap="square" lIns="0" tIns="0" rIns="0" bIns="0" anchor="t">
            <a:spAutoFit/>
          </a:bodyPr>
          <a:lstStyle/>
          <a:p>
            <a:pPr algn="ctr">
              <a:lnSpc>
                <a:spcPct val="108000"/>
              </a:lnSpc>
              <a:spcAft>
                <a:spcPts val="800"/>
              </a:spcAft>
            </a:pPr>
            <a:r>
              <a:rPr sz="1400" b="0">
                <a:solidFill>
                  <a:srgbClr val="8CA3AD"/>
                </a:solidFill>
                <a:latin typeface="Georgia"/>
              </a:rPr>
              <a:t>mutations and history</a:t>
            </a:r>
          </a:p>
        </p:txBody>
      </p:sp>
      <p:sp>
        <p:nvSpPr>
          <p:cNvPr id="14" name="TextBox 13"/>
          <p:cNvSpPr txBox="1"/>
          <p:nvPr/>
        </p:nvSpPr>
        <p:spPr>
          <a:xfrm>
            <a:off x="6025895" y="2788920"/>
            <a:ext cx="548640" cy="640080"/>
          </a:xfrm>
          <a:prstGeom prst="rect">
            <a:avLst/>
          </a:prstGeom>
          <a:noFill/>
        </p:spPr>
        <p:txBody>
          <a:bodyPr wrap="square" lIns="0" tIns="0" rIns="0" bIns="0" anchor="t">
            <a:spAutoFit/>
          </a:bodyPr>
          <a:lstStyle/>
          <a:p>
            <a:pPr algn="ctr">
              <a:lnSpc>
                <a:spcPct val="108000"/>
              </a:lnSpc>
              <a:spcAft>
                <a:spcPts val="800"/>
              </a:spcAft>
            </a:pPr>
            <a:r>
              <a:rPr sz="3600" b="0">
                <a:solidFill>
                  <a:srgbClr val="2DD4BF"/>
                </a:solidFill>
                <a:latin typeface="Georgia"/>
              </a:rPr>
              <a:t>›</a:t>
            </a:r>
          </a:p>
        </p:txBody>
      </p:sp>
      <p:sp>
        <p:nvSpPr>
          <p:cNvPr id="15" name="Rounded Rectangle 14"/>
          <p:cNvSpPr/>
          <p:nvPr/>
        </p:nvSpPr>
        <p:spPr>
          <a:xfrm>
            <a:off x="6501383" y="2240280"/>
            <a:ext cx="2331720" cy="1783080"/>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501383" y="2395728"/>
            <a:ext cx="2331720" cy="548640"/>
          </a:xfrm>
          <a:prstGeom prst="rect">
            <a:avLst/>
          </a:prstGeom>
          <a:noFill/>
        </p:spPr>
        <p:txBody>
          <a:bodyPr wrap="square" lIns="0" tIns="0" rIns="0" bIns="0" anchor="t">
            <a:spAutoFit/>
          </a:bodyPr>
          <a:lstStyle/>
          <a:p>
            <a:pPr algn="ctr">
              <a:lnSpc>
                <a:spcPct val="108000"/>
              </a:lnSpc>
              <a:spcAft>
                <a:spcPts val="800"/>
              </a:spcAft>
            </a:pPr>
            <a:r>
              <a:rPr sz="2800" b="1">
                <a:solidFill>
                  <a:srgbClr val="2DD4BF"/>
                </a:solidFill>
                <a:latin typeface="Consolas"/>
              </a:rPr>
              <a:t>3</a:t>
            </a:r>
          </a:p>
        </p:txBody>
      </p:sp>
      <p:sp>
        <p:nvSpPr>
          <p:cNvPr id="17" name="TextBox 16"/>
          <p:cNvSpPr txBox="1"/>
          <p:nvPr/>
        </p:nvSpPr>
        <p:spPr>
          <a:xfrm>
            <a:off x="6638544" y="3017520"/>
            <a:ext cx="2057400" cy="502920"/>
          </a:xfrm>
          <a:prstGeom prst="rect">
            <a:avLst/>
          </a:prstGeom>
          <a:noFill/>
        </p:spPr>
        <p:txBody>
          <a:bodyPr wrap="square" lIns="0" tIns="0" rIns="0" bIns="0" anchor="t">
            <a:spAutoFit/>
          </a:bodyPr>
          <a:lstStyle/>
          <a:p>
            <a:pPr algn="ctr">
              <a:lnSpc>
                <a:spcPct val="108000"/>
              </a:lnSpc>
              <a:spcAft>
                <a:spcPts val="800"/>
              </a:spcAft>
            </a:pPr>
            <a:r>
              <a:rPr sz="2200" b="1">
                <a:solidFill>
                  <a:srgbClr val="F2F7F6"/>
                </a:solidFill>
                <a:latin typeface="Georgia"/>
              </a:rPr>
              <a:t>8 models vote</a:t>
            </a:r>
          </a:p>
        </p:txBody>
      </p:sp>
      <p:sp>
        <p:nvSpPr>
          <p:cNvPr id="18" name="TextBox 17"/>
          <p:cNvSpPr txBox="1"/>
          <p:nvPr/>
        </p:nvSpPr>
        <p:spPr>
          <a:xfrm>
            <a:off x="6638544" y="3547872"/>
            <a:ext cx="2057400" cy="411480"/>
          </a:xfrm>
          <a:prstGeom prst="rect">
            <a:avLst/>
          </a:prstGeom>
          <a:noFill/>
        </p:spPr>
        <p:txBody>
          <a:bodyPr wrap="square" lIns="0" tIns="0" rIns="0" bIns="0" anchor="t">
            <a:spAutoFit/>
          </a:bodyPr>
          <a:lstStyle/>
          <a:p>
            <a:pPr algn="ctr">
              <a:lnSpc>
                <a:spcPct val="108000"/>
              </a:lnSpc>
              <a:spcAft>
                <a:spcPts val="800"/>
              </a:spcAft>
            </a:pPr>
            <a:r>
              <a:rPr sz="1400" b="0">
                <a:solidFill>
                  <a:srgbClr val="8CA3AD"/>
                </a:solidFill>
                <a:latin typeface="Georgia"/>
              </a:rPr>
              <a:t>each sees a slice</a:t>
            </a:r>
          </a:p>
        </p:txBody>
      </p:sp>
      <p:sp>
        <p:nvSpPr>
          <p:cNvPr id="19" name="TextBox 18"/>
          <p:cNvSpPr txBox="1"/>
          <p:nvPr/>
        </p:nvSpPr>
        <p:spPr>
          <a:xfrm>
            <a:off x="8887968" y="2788920"/>
            <a:ext cx="548640" cy="640080"/>
          </a:xfrm>
          <a:prstGeom prst="rect">
            <a:avLst/>
          </a:prstGeom>
          <a:noFill/>
        </p:spPr>
        <p:txBody>
          <a:bodyPr wrap="square" lIns="0" tIns="0" rIns="0" bIns="0" anchor="t">
            <a:spAutoFit/>
          </a:bodyPr>
          <a:lstStyle/>
          <a:p>
            <a:pPr algn="ctr">
              <a:lnSpc>
                <a:spcPct val="108000"/>
              </a:lnSpc>
              <a:spcAft>
                <a:spcPts val="800"/>
              </a:spcAft>
            </a:pPr>
            <a:r>
              <a:rPr sz="3600" b="0">
                <a:solidFill>
                  <a:srgbClr val="2DD4BF"/>
                </a:solidFill>
                <a:latin typeface="Georgia"/>
              </a:rPr>
              <a:t>›</a:t>
            </a:r>
          </a:p>
        </p:txBody>
      </p:sp>
      <p:sp>
        <p:nvSpPr>
          <p:cNvPr id="20" name="Rounded Rectangle 19"/>
          <p:cNvSpPr/>
          <p:nvPr/>
        </p:nvSpPr>
        <p:spPr>
          <a:xfrm>
            <a:off x="9363456" y="2240280"/>
            <a:ext cx="2331720" cy="1783080"/>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363456" y="2395728"/>
            <a:ext cx="2331720" cy="548640"/>
          </a:xfrm>
          <a:prstGeom prst="rect">
            <a:avLst/>
          </a:prstGeom>
          <a:noFill/>
        </p:spPr>
        <p:txBody>
          <a:bodyPr wrap="square" lIns="0" tIns="0" rIns="0" bIns="0" anchor="t">
            <a:spAutoFit/>
          </a:bodyPr>
          <a:lstStyle/>
          <a:p>
            <a:pPr algn="ctr">
              <a:lnSpc>
                <a:spcPct val="108000"/>
              </a:lnSpc>
              <a:spcAft>
                <a:spcPts val="800"/>
              </a:spcAft>
            </a:pPr>
            <a:r>
              <a:rPr sz="2800" b="1">
                <a:solidFill>
                  <a:srgbClr val="2DD4BF"/>
                </a:solidFill>
                <a:latin typeface="Consolas"/>
              </a:rPr>
              <a:t>4</a:t>
            </a:r>
          </a:p>
        </p:txBody>
      </p:sp>
      <p:sp>
        <p:nvSpPr>
          <p:cNvPr id="22" name="TextBox 21"/>
          <p:cNvSpPr txBox="1"/>
          <p:nvPr/>
        </p:nvSpPr>
        <p:spPr>
          <a:xfrm>
            <a:off x="9500616" y="3017520"/>
            <a:ext cx="2057400" cy="502920"/>
          </a:xfrm>
          <a:prstGeom prst="rect">
            <a:avLst/>
          </a:prstGeom>
          <a:noFill/>
        </p:spPr>
        <p:txBody>
          <a:bodyPr wrap="square" lIns="0" tIns="0" rIns="0" bIns="0" anchor="t">
            <a:spAutoFit/>
          </a:bodyPr>
          <a:lstStyle/>
          <a:p>
            <a:pPr algn="ctr">
              <a:lnSpc>
                <a:spcPct val="108000"/>
              </a:lnSpc>
              <a:spcAft>
                <a:spcPts val="800"/>
              </a:spcAft>
            </a:pPr>
            <a:r>
              <a:rPr sz="2200" b="1">
                <a:solidFill>
                  <a:srgbClr val="F2F7F6"/>
                </a:solidFill>
                <a:latin typeface="Georgia"/>
              </a:rPr>
              <a:t>Probability</a:t>
            </a:r>
          </a:p>
        </p:txBody>
      </p:sp>
      <p:sp>
        <p:nvSpPr>
          <p:cNvPr id="23" name="TextBox 22"/>
          <p:cNvSpPr txBox="1"/>
          <p:nvPr/>
        </p:nvSpPr>
        <p:spPr>
          <a:xfrm>
            <a:off x="9500616" y="3547872"/>
            <a:ext cx="2057400" cy="411480"/>
          </a:xfrm>
          <a:prstGeom prst="rect">
            <a:avLst/>
          </a:prstGeom>
          <a:noFill/>
        </p:spPr>
        <p:txBody>
          <a:bodyPr wrap="square" lIns="0" tIns="0" rIns="0" bIns="0" anchor="t">
            <a:spAutoFit/>
          </a:bodyPr>
          <a:lstStyle/>
          <a:p>
            <a:pPr algn="ctr">
              <a:lnSpc>
                <a:spcPct val="108000"/>
              </a:lnSpc>
              <a:spcAft>
                <a:spcPts val="800"/>
              </a:spcAft>
            </a:pPr>
            <a:r>
              <a:rPr sz="1400" b="0">
                <a:solidFill>
                  <a:srgbClr val="8CA3AD"/>
                </a:solidFill>
                <a:latin typeface="Georgia"/>
              </a:rPr>
              <a:t>calibrated, with range</a:t>
            </a:r>
          </a:p>
        </p:txBody>
      </p:sp>
      <p:sp>
        <p:nvSpPr>
          <p:cNvPr id="24" name="Rounded Rectangle 23"/>
          <p:cNvSpPr/>
          <p:nvPr/>
        </p:nvSpPr>
        <p:spPr>
          <a:xfrm>
            <a:off x="777240" y="4709160"/>
            <a:ext cx="5212080" cy="1508760"/>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1051560" y="5001768"/>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307592" y="4937760"/>
            <a:ext cx="6400800" cy="365760"/>
          </a:xfrm>
          <a:prstGeom prst="rect">
            <a:avLst/>
          </a:prstGeom>
          <a:noFill/>
        </p:spPr>
        <p:txBody>
          <a:bodyPr wrap="square" lIns="0" tIns="0" rIns="0" bIns="0" anchor="t">
            <a:spAutoFit/>
          </a:bodyPr>
          <a:lstStyle/>
          <a:p>
            <a:pPr algn="l">
              <a:lnSpc>
                <a:spcPct val="108000"/>
              </a:lnSpc>
              <a:spcAft>
                <a:spcPts val="800"/>
              </a:spcAft>
            </a:pPr>
            <a:r>
              <a:rPr sz="1300" b="1">
                <a:solidFill>
                  <a:srgbClr val="2DD4BF"/>
                </a:solidFill>
                <a:latin typeface="Consolas"/>
              </a:rPr>
              <a:t>THE 201 SIGNALS</a:t>
            </a:r>
          </a:p>
        </p:txBody>
      </p:sp>
      <p:sp>
        <p:nvSpPr>
          <p:cNvPr id="27" name="TextBox 26"/>
          <p:cNvSpPr txBox="1"/>
          <p:nvPr/>
        </p:nvSpPr>
        <p:spPr>
          <a:xfrm>
            <a:off x="1051560" y="5349240"/>
            <a:ext cx="4663440" cy="731520"/>
          </a:xfrm>
          <a:prstGeom prst="rect">
            <a:avLst/>
          </a:prstGeom>
          <a:noFill/>
        </p:spPr>
        <p:txBody>
          <a:bodyPr wrap="square" lIns="0" tIns="0" rIns="0" bIns="0" anchor="t">
            <a:spAutoFit/>
          </a:bodyPr>
          <a:lstStyle/>
          <a:p>
            <a:pPr algn="l">
              <a:lnSpc>
                <a:spcPct val="115000"/>
              </a:lnSpc>
              <a:spcAft>
                <a:spcPts val="800"/>
              </a:spcAft>
            </a:pPr>
            <a:r>
              <a:rPr sz="1600" b="0">
                <a:solidFill>
                  <a:srgbClr val="8CA3AD"/>
                </a:solidFill>
                <a:latin typeface="Georgia"/>
              </a:rPr>
              <a:t>Mutations, gene copy changes, TMB, MSI status, stage, smoking, purity.</a:t>
            </a:r>
          </a:p>
        </p:txBody>
      </p:sp>
      <p:sp>
        <p:nvSpPr>
          <p:cNvPr id="28" name="Rounded Rectangle 27"/>
          <p:cNvSpPr/>
          <p:nvPr/>
        </p:nvSpPr>
        <p:spPr>
          <a:xfrm>
            <a:off x="6217920" y="4709160"/>
            <a:ext cx="5212080" cy="1508760"/>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6492240" y="5001768"/>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748272" y="4937760"/>
            <a:ext cx="5349240" cy="365760"/>
          </a:xfrm>
          <a:prstGeom prst="rect">
            <a:avLst/>
          </a:prstGeom>
          <a:noFill/>
        </p:spPr>
        <p:txBody>
          <a:bodyPr wrap="square" lIns="0" tIns="0" rIns="0" bIns="0" anchor="t">
            <a:spAutoFit/>
          </a:bodyPr>
          <a:lstStyle/>
          <a:p>
            <a:pPr algn="l">
              <a:lnSpc>
                <a:spcPct val="108000"/>
              </a:lnSpc>
              <a:spcAft>
                <a:spcPts val="800"/>
              </a:spcAft>
            </a:pPr>
            <a:r>
              <a:rPr sz="1300" b="1">
                <a:solidFill>
                  <a:srgbClr val="2DD4BF"/>
                </a:solidFill>
                <a:latin typeface="Consolas"/>
              </a:rPr>
              <a:t>WHY EIGHT MODELS</a:t>
            </a:r>
          </a:p>
        </p:txBody>
      </p:sp>
      <p:sp>
        <p:nvSpPr>
          <p:cNvPr id="31" name="TextBox 30"/>
          <p:cNvSpPr txBox="1"/>
          <p:nvPr/>
        </p:nvSpPr>
        <p:spPr>
          <a:xfrm>
            <a:off x="6492240" y="5349240"/>
            <a:ext cx="4663440" cy="731520"/>
          </a:xfrm>
          <a:prstGeom prst="rect">
            <a:avLst/>
          </a:prstGeom>
          <a:noFill/>
        </p:spPr>
        <p:txBody>
          <a:bodyPr wrap="square" lIns="0" tIns="0" rIns="0" bIns="0" anchor="t">
            <a:spAutoFit/>
          </a:bodyPr>
          <a:lstStyle/>
          <a:p>
            <a:pPr algn="l">
              <a:lnSpc>
                <a:spcPct val="115000"/>
              </a:lnSpc>
              <a:spcAft>
                <a:spcPts val="800"/>
              </a:spcAft>
            </a:pPr>
            <a:r>
              <a:rPr sz="1600" b="0">
                <a:solidFill>
                  <a:srgbClr val="8CA3AD"/>
                </a:solidFill>
                <a:latin typeface="Georgia"/>
              </a:rPr>
              <a:t>Each trains on a different slice; their spread measures doubt.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A1219"/>
        </a:solidFill>
        <a:effectLst/>
      </p:bgPr>
    </p:bg>
    <p:spTree>
      <p:nvGrpSpPr>
        <p:cNvPr id="1" name=""/>
        <p:cNvGrpSpPr/>
        <p:nvPr/>
      </p:nvGrpSpPr>
      <p:grpSpPr>
        <a:xfrm>
          <a:off x="0" y="0"/>
          <a:ext cx="0" cy="0"/>
          <a:chOff x="0" y="0"/>
          <a:chExt cx="0" cy="0"/>
        </a:xfrm>
      </p:grpSpPr>
      <p:sp>
        <p:nvSpPr>
          <p:cNvPr id="2" name="TextBox 1"/>
          <p:cNvSpPr txBox="1"/>
          <p:nvPr/>
        </p:nvSpPr>
        <p:spPr>
          <a:xfrm>
            <a:off x="11338560" y="6492240"/>
            <a:ext cx="777240" cy="274320"/>
          </a:xfrm>
          <a:prstGeom prst="rect">
            <a:avLst/>
          </a:prstGeom>
          <a:noFill/>
        </p:spPr>
        <p:txBody>
          <a:bodyPr wrap="square" lIns="0" tIns="0" rIns="0" bIns="0" anchor="t">
            <a:spAutoFit/>
          </a:bodyPr>
          <a:lstStyle/>
          <a:p>
            <a:pPr algn="r">
              <a:lnSpc>
                <a:spcPct val="108000"/>
              </a:lnSpc>
              <a:spcAft>
                <a:spcPts val="0"/>
              </a:spcAft>
            </a:pPr>
            <a:r>
              <a:rPr sz="1100" b="0">
                <a:solidFill>
                  <a:srgbClr val="8CA3AD"/>
                </a:solidFill>
                <a:latin typeface="Consolas"/>
              </a:rPr>
              <a:t>09 / 13</a:t>
            </a:r>
          </a:p>
        </p:txBody>
      </p:sp>
      <p:sp>
        <p:nvSpPr>
          <p:cNvPr id="3" name="Rectangle 2"/>
          <p:cNvSpPr/>
          <p:nvPr/>
        </p:nvSpPr>
        <p:spPr>
          <a:xfrm>
            <a:off x="713232" y="384048"/>
            <a:ext cx="502920" cy="457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566928"/>
            <a:ext cx="10835640" cy="1234440"/>
          </a:xfrm>
          <a:prstGeom prst="rect">
            <a:avLst/>
          </a:prstGeom>
          <a:noFill/>
        </p:spPr>
        <p:txBody>
          <a:bodyPr wrap="square" lIns="0" tIns="0" rIns="0" bIns="0" anchor="t">
            <a:spAutoFit/>
          </a:bodyPr>
          <a:lstStyle/>
          <a:p>
            <a:pPr algn="l">
              <a:lnSpc>
                <a:spcPct val="100000"/>
              </a:lnSpc>
              <a:spcAft>
                <a:spcPts val="800"/>
              </a:spcAft>
            </a:pPr>
            <a:r>
              <a:rPr sz="4000" b="1">
                <a:solidFill>
                  <a:srgbClr val="F2F7F6"/>
                </a:solidFill>
                <a:latin typeface="Georgia"/>
              </a:rPr>
              <a:t>It even scores how sure it is.</a:t>
            </a:r>
          </a:p>
        </p:txBody>
      </p:sp>
      <p:sp>
        <p:nvSpPr>
          <p:cNvPr id="5" name="Rounded Rectangle 4"/>
          <p:cNvSpPr/>
          <p:nvPr/>
        </p:nvSpPr>
        <p:spPr>
          <a:xfrm>
            <a:off x="777240" y="1965960"/>
            <a:ext cx="6126480" cy="3794760"/>
          </a:xfrm>
          <a:prstGeom prst="roundRect">
            <a:avLst>
              <a:gd name="adj" fmla="val 5000"/>
            </a:avLst>
          </a:prstGeom>
          <a:solidFill>
            <a:srgbClr val="060C11"/>
          </a:solidFill>
          <a:ln w="12700">
            <a:solidFill>
              <a:srgbClr val="233A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05840" y="2148840"/>
            <a:ext cx="5669280" cy="384048"/>
          </a:xfrm>
          <a:prstGeom prst="rect">
            <a:avLst/>
          </a:prstGeom>
          <a:noFill/>
        </p:spPr>
        <p:txBody>
          <a:bodyPr wrap="square" lIns="0" tIns="0" rIns="0" bIns="0" anchor="t">
            <a:spAutoFit/>
          </a:bodyPr>
          <a:lstStyle/>
          <a:p>
            <a:pPr algn="l">
              <a:lnSpc>
                <a:spcPct val="108000"/>
              </a:lnSpc>
              <a:spcAft>
                <a:spcPts val="0"/>
              </a:spcAft>
            </a:pPr>
            <a:r>
              <a:rPr sz="1300" b="0">
                <a:solidFill>
                  <a:srgbClr val="8CA3AD"/>
                </a:solidFill>
                <a:latin typeface="Consolas"/>
              </a:rPr>
              <a:t># eight models each make a call</a:t>
            </a:r>
          </a:p>
        </p:txBody>
      </p:sp>
      <p:sp>
        <p:nvSpPr>
          <p:cNvPr id="7" name="TextBox 6"/>
          <p:cNvSpPr txBox="1"/>
          <p:nvPr/>
        </p:nvSpPr>
        <p:spPr>
          <a:xfrm>
            <a:off x="1005840" y="2560320"/>
            <a:ext cx="5669280" cy="384048"/>
          </a:xfrm>
          <a:prstGeom prst="rect">
            <a:avLst/>
          </a:prstGeom>
          <a:noFill/>
        </p:spPr>
        <p:txBody>
          <a:bodyPr wrap="square" lIns="0" tIns="0" rIns="0" bIns="0" anchor="t">
            <a:spAutoFit/>
          </a:bodyPr>
          <a:lstStyle/>
          <a:p>
            <a:pPr algn="l">
              <a:lnSpc>
                <a:spcPct val="108000"/>
              </a:lnSpc>
              <a:spcAft>
                <a:spcPts val="0"/>
              </a:spcAft>
            </a:pPr>
            <a:r>
              <a:rPr sz="1300" b="0">
                <a:solidFill>
                  <a:srgbClr val="F2F7F6"/>
                </a:solidFill>
                <a:latin typeface="Consolas"/>
              </a:rPr>
              <a:t>votes = [m.predict_proba(x)[:, 1][0] for m in self.models]</a:t>
            </a:r>
          </a:p>
        </p:txBody>
      </p:sp>
      <p:sp>
        <p:nvSpPr>
          <p:cNvPr id="8" name="TextBox 7"/>
          <p:cNvSpPr txBox="1"/>
          <p:nvPr/>
        </p:nvSpPr>
        <p:spPr>
          <a:xfrm>
            <a:off x="1005840" y="2971800"/>
            <a:ext cx="5669280" cy="384048"/>
          </a:xfrm>
          <a:prstGeom prst="rect">
            <a:avLst/>
          </a:prstGeom>
          <a:noFill/>
        </p:spPr>
        <p:txBody>
          <a:bodyPr wrap="square" lIns="0" tIns="0" rIns="0" bIns="0" anchor="t">
            <a:spAutoFit/>
          </a:bodyPr>
          <a:lstStyle/>
          <a:p>
            <a:pPr algn="l">
              <a:lnSpc>
                <a:spcPct val="108000"/>
              </a:lnSpc>
              <a:spcAft>
                <a:spcPts val="0"/>
              </a:spcAft>
            </a:pPr>
            <a:r>
              <a:rPr sz="1300" b="0">
                <a:solidFill>
                  <a:srgbClr val="F2F7F6"/>
                </a:solidFill>
                <a:latin typeface="Consolas"/>
              </a:rPr>
              <a:t>proba = self.isotonic.predict([np.mean(votes)])[0]</a:t>
            </a:r>
          </a:p>
        </p:txBody>
      </p:sp>
      <p:sp>
        <p:nvSpPr>
          <p:cNvPr id="9" name="TextBox 8"/>
          <p:cNvSpPr txBox="1"/>
          <p:nvPr/>
        </p:nvSpPr>
        <p:spPr>
          <a:xfrm>
            <a:off x="1005840" y="3383280"/>
            <a:ext cx="5669280" cy="384048"/>
          </a:xfrm>
          <a:prstGeom prst="rect">
            <a:avLst/>
          </a:prstGeom>
          <a:noFill/>
        </p:spPr>
        <p:txBody>
          <a:bodyPr wrap="square" lIns="0" tIns="0" rIns="0" bIns="0" anchor="t">
            <a:spAutoFit/>
          </a:bodyPr>
          <a:lstStyle/>
          <a:p>
            <a:pPr algn="l">
              <a:lnSpc>
                <a:spcPct val="108000"/>
              </a:lnSpc>
              <a:spcAft>
                <a:spcPts val="0"/>
              </a:spcAft>
            </a:pPr>
            <a:r>
              <a:rPr sz="1300" b="0">
                <a:solidFill>
                  <a:srgbClr val="F2F7F6"/>
                </a:solidFill>
                <a:latin typeface="Consolas"/>
              </a:rPr>
              <a:t>score = int(round(proba * 100))    # the estimate</a:t>
            </a:r>
          </a:p>
        </p:txBody>
      </p:sp>
      <p:sp>
        <p:nvSpPr>
          <p:cNvPr id="10" name="TextBox 9"/>
          <p:cNvSpPr txBox="1"/>
          <p:nvPr/>
        </p:nvSpPr>
        <p:spPr>
          <a:xfrm>
            <a:off x="1005840" y="4206240"/>
            <a:ext cx="5669280" cy="384048"/>
          </a:xfrm>
          <a:prstGeom prst="rect">
            <a:avLst/>
          </a:prstGeom>
          <a:noFill/>
        </p:spPr>
        <p:txBody>
          <a:bodyPr wrap="square" lIns="0" tIns="0" rIns="0" bIns="0" anchor="t">
            <a:spAutoFit/>
          </a:bodyPr>
          <a:lstStyle/>
          <a:p>
            <a:pPr algn="l">
              <a:lnSpc>
                <a:spcPct val="108000"/>
              </a:lnSpc>
              <a:spcAft>
                <a:spcPts val="0"/>
              </a:spcAft>
            </a:pPr>
            <a:r>
              <a:rPr sz="1300" b="0">
                <a:solidFill>
                  <a:srgbClr val="8CA3AD"/>
                </a:solidFill>
                <a:latin typeface="Consolas"/>
              </a:rPr>
              <a:t># disagreement becomes the band on screen</a:t>
            </a:r>
          </a:p>
        </p:txBody>
      </p:sp>
      <p:sp>
        <p:nvSpPr>
          <p:cNvPr id="11" name="TextBox 10"/>
          <p:cNvSpPr txBox="1"/>
          <p:nvPr/>
        </p:nvSpPr>
        <p:spPr>
          <a:xfrm>
            <a:off x="1005840" y="4617720"/>
            <a:ext cx="5669280" cy="384048"/>
          </a:xfrm>
          <a:prstGeom prst="rect">
            <a:avLst/>
          </a:prstGeom>
          <a:noFill/>
        </p:spPr>
        <p:txBody>
          <a:bodyPr wrap="square" lIns="0" tIns="0" rIns="0" bIns="0" anchor="t">
            <a:spAutoFit/>
          </a:bodyPr>
          <a:lstStyle/>
          <a:p>
            <a:pPr algn="l">
              <a:lnSpc>
                <a:spcPct val="108000"/>
              </a:lnSpc>
              <a:spcAft>
                <a:spcPts val="0"/>
              </a:spcAft>
            </a:pPr>
            <a:r>
              <a:rPr sz="1300" b="0">
                <a:solidFill>
                  <a:srgbClr val="F2F7F6"/>
                </a:solidFill>
                <a:latin typeface="Consolas"/>
              </a:rPr>
              <a:t>half  = max(2, int(round(1.645 * np.std(votes) * 100)))</a:t>
            </a:r>
          </a:p>
        </p:txBody>
      </p:sp>
      <p:sp>
        <p:nvSpPr>
          <p:cNvPr id="12" name="TextBox 11"/>
          <p:cNvSpPr txBox="1"/>
          <p:nvPr/>
        </p:nvSpPr>
        <p:spPr>
          <a:xfrm>
            <a:off x="1005840" y="5029200"/>
            <a:ext cx="5669280" cy="384048"/>
          </a:xfrm>
          <a:prstGeom prst="rect">
            <a:avLst/>
          </a:prstGeom>
          <a:noFill/>
        </p:spPr>
        <p:txBody>
          <a:bodyPr wrap="square" lIns="0" tIns="0" rIns="0" bIns="0" anchor="t">
            <a:spAutoFit/>
          </a:bodyPr>
          <a:lstStyle/>
          <a:p>
            <a:pPr algn="l">
              <a:lnSpc>
                <a:spcPct val="108000"/>
              </a:lnSpc>
              <a:spcAft>
                <a:spcPts val="0"/>
              </a:spcAft>
            </a:pPr>
            <a:r>
              <a:rPr sz="1300" b="0">
                <a:solidFill>
                  <a:srgbClr val="F2F7F6"/>
                </a:solidFill>
                <a:latin typeface="Consolas"/>
              </a:rPr>
              <a:t>ci    = [max(0, score - half), min(100, score + half)]</a:t>
            </a:r>
          </a:p>
        </p:txBody>
      </p:sp>
      <p:sp>
        <p:nvSpPr>
          <p:cNvPr id="13" name="TextBox 12"/>
          <p:cNvSpPr txBox="1"/>
          <p:nvPr/>
        </p:nvSpPr>
        <p:spPr>
          <a:xfrm>
            <a:off x="822960" y="5943600"/>
            <a:ext cx="5943600" cy="457200"/>
          </a:xfrm>
          <a:prstGeom prst="rect">
            <a:avLst/>
          </a:prstGeom>
          <a:noFill/>
        </p:spPr>
        <p:txBody>
          <a:bodyPr wrap="square" lIns="0" tIns="0" rIns="0" bIns="0" anchor="t">
            <a:spAutoFit/>
          </a:bodyPr>
          <a:lstStyle/>
          <a:p>
            <a:pPr algn="l">
              <a:lnSpc>
                <a:spcPct val="108000"/>
              </a:lnSpc>
              <a:spcAft>
                <a:spcPts val="800"/>
              </a:spcAft>
            </a:pPr>
            <a:r>
              <a:rPr sz="1300" b="0">
                <a:solidFill>
                  <a:srgbClr val="8CA3AD"/>
                </a:solidFill>
                <a:latin typeface="Consolas"/>
              </a:rPr>
              <a:t>backend/predictor.py</a:t>
            </a:r>
          </a:p>
        </p:txBody>
      </p:sp>
      <p:sp>
        <p:nvSpPr>
          <p:cNvPr id="14" name="TextBox 13"/>
          <p:cNvSpPr txBox="1"/>
          <p:nvPr/>
        </p:nvSpPr>
        <p:spPr>
          <a:xfrm>
            <a:off x="7360920" y="2103120"/>
            <a:ext cx="4114800" cy="4023360"/>
          </a:xfrm>
          <a:prstGeom prst="rect">
            <a:avLst/>
          </a:prstGeom>
          <a:noFill/>
        </p:spPr>
        <p:txBody>
          <a:bodyPr wrap="square" lIns="0" tIns="0" rIns="0" bIns="0" anchor="t">
            <a:spAutoFit/>
          </a:bodyPr>
          <a:lstStyle/>
          <a:p>
            <a:pPr algn="l">
              <a:lnSpc>
                <a:spcPct val="108000"/>
              </a:lnSpc>
              <a:spcAft>
                <a:spcPts val="2200"/>
              </a:spcAft>
            </a:pPr>
            <a:r>
              <a:rPr sz="2400" b="0">
                <a:solidFill>
                  <a:srgbClr val="F2F7F6"/>
                </a:solidFill>
                <a:latin typeface="Georgia"/>
              </a:rPr>
              <a:t>Eight models vote; their average becomes the score.</a:t>
            </a:r>
          </a:p>
          <a:p>
            <a:pPr algn="l">
              <a:lnSpc>
                <a:spcPct val="108000"/>
              </a:lnSpc>
              <a:spcAft>
                <a:spcPts val="2200"/>
              </a:spcAft>
            </a:pPr>
            <a:r>
              <a:rPr sz="2400" b="0">
                <a:solidFill>
                  <a:srgbClr val="F2F7F6"/>
                </a:solidFill>
                <a:latin typeface="Georgia"/>
              </a:rPr>
              <a:t>Their disagreement sets the band's width.</a:t>
            </a:r>
          </a:p>
          <a:p>
            <a:pPr algn="l">
              <a:lnSpc>
                <a:spcPct val="108000"/>
              </a:lnSpc>
              <a:spcAft>
                <a:spcPts val="2200"/>
              </a:spcAft>
            </a:pPr>
            <a:r>
              <a:rPr sz="2400" b="0">
                <a:solidFill>
                  <a:srgbClr val="F2F7F6"/>
                </a:solidFill>
                <a:latin typeface="Georgia"/>
              </a:rPr>
              <a:t>A wide band means slow down and look closer.</a:t>
            </a:r>
          </a:p>
          <a:p>
            <a:pPr algn="l">
              <a:lnSpc>
                <a:spcPct val="108000"/>
              </a:lnSpc>
              <a:spcAft>
                <a:spcPts val="2200"/>
              </a:spcAft>
            </a:pPr>
            <a:r>
              <a:rPr sz="2400" b="0">
                <a:solidFill>
                  <a:srgbClr val="F2F7F6"/>
                </a:solidFill>
                <a:latin typeface="Georgia"/>
              </a:rPr>
              <a:t>Calibrated on 5,213 patients it never saw.</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A1219"/>
        </a:solidFill>
        <a:effectLst/>
      </p:bgPr>
    </p:bg>
    <p:spTree>
      <p:nvGrpSpPr>
        <p:cNvPr id="1" name=""/>
        <p:cNvGrpSpPr/>
        <p:nvPr/>
      </p:nvGrpSpPr>
      <p:grpSpPr>
        <a:xfrm>
          <a:off x="0" y="0"/>
          <a:ext cx="0" cy="0"/>
          <a:chOff x="0" y="0"/>
          <a:chExt cx="0" cy="0"/>
        </a:xfrm>
      </p:grpSpPr>
      <p:sp>
        <p:nvSpPr>
          <p:cNvPr id="2" name="TextBox 1"/>
          <p:cNvSpPr txBox="1"/>
          <p:nvPr/>
        </p:nvSpPr>
        <p:spPr>
          <a:xfrm>
            <a:off x="11338560" y="6492240"/>
            <a:ext cx="777240" cy="274320"/>
          </a:xfrm>
          <a:prstGeom prst="rect">
            <a:avLst/>
          </a:prstGeom>
          <a:noFill/>
        </p:spPr>
        <p:txBody>
          <a:bodyPr wrap="square" lIns="0" tIns="0" rIns="0" bIns="0" anchor="t">
            <a:spAutoFit/>
          </a:bodyPr>
          <a:lstStyle/>
          <a:p>
            <a:pPr algn="r">
              <a:lnSpc>
                <a:spcPct val="108000"/>
              </a:lnSpc>
              <a:spcAft>
                <a:spcPts val="0"/>
              </a:spcAft>
            </a:pPr>
            <a:r>
              <a:rPr sz="1100" b="0">
                <a:solidFill>
                  <a:srgbClr val="8CA3AD"/>
                </a:solidFill>
                <a:latin typeface="Consolas"/>
              </a:rPr>
              <a:t>10 / 13</a:t>
            </a:r>
          </a:p>
        </p:txBody>
      </p:sp>
      <p:sp>
        <p:nvSpPr>
          <p:cNvPr id="3" name="Rectangle 2"/>
          <p:cNvSpPr/>
          <p:nvPr/>
        </p:nvSpPr>
        <p:spPr>
          <a:xfrm>
            <a:off x="713232" y="384048"/>
            <a:ext cx="502920" cy="457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566928"/>
            <a:ext cx="10835640" cy="1234440"/>
          </a:xfrm>
          <a:prstGeom prst="rect">
            <a:avLst/>
          </a:prstGeom>
          <a:noFill/>
        </p:spPr>
        <p:txBody>
          <a:bodyPr wrap="square" lIns="0" tIns="0" rIns="0" bIns="0" anchor="t">
            <a:spAutoFit/>
          </a:bodyPr>
          <a:lstStyle/>
          <a:p>
            <a:pPr algn="l">
              <a:lnSpc>
                <a:spcPct val="100000"/>
              </a:lnSpc>
              <a:spcAft>
                <a:spcPts val="800"/>
              </a:spcAft>
            </a:pPr>
            <a:r>
              <a:rPr sz="4000" b="1">
                <a:solidFill>
                  <a:srgbClr val="F2F7F6"/>
                </a:solidFill>
                <a:latin typeface="Georgia"/>
              </a:rPr>
              <a:t>Some of the most careful code is the easiest to read.</a:t>
            </a:r>
          </a:p>
        </p:txBody>
      </p:sp>
      <p:sp>
        <p:nvSpPr>
          <p:cNvPr id="5" name="Rectangle 4"/>
          <p:cNvSpPr/>
          <p:nvPr/>
        </p:nvSpPr>
        <p:spPr>
          <a:xfrm>
            <a:off x="822960" y="2029967"/>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78992" y="1965960"/>
            <a:ext cx="6400800" cy="365760"/>
          </a:xfrm>
          <a:prstGeom prst="rect">
            <a:avLst/>
          </a:prstGeom>
          <a:noFill/>
        </p:spPr>
        <p:txBody>
          <a:bodyPr wrap="square" lIns="0" tIns="0" rIns="0" bIns="0" anchor="t">
            <a:spAutoFit/>
          </a:bodyPr>
          <a:lstStyle/>
          <a:p>
            <a:pPr algn="l">
              <a:lnSpc>
                <a:spcPct val="108000"/>
              </a:lnSpc>
              <a:spcAft>
                <a:spcPts val="800"/>
              </a:spcAft>
            </a:pPr>
            <a:r>
              <a:rPr sz="1300" b="1">
                <a:solidFill>
                  <a:srgbClr val="2DD4BF"/>
                </a:solidFill>
                <a:latin typeface="Consolas"/>
              </a:rPr>
              <a:t>FINDING SIMILAR PATIENTS</a:t>
            </a:r>
          </a:p>
        </p:txBody>
      </p:sp>
      <p:sp>
        <p:nvSpPr>
          <p:cNvPr id="7" name="Rounded Rectangle 6"/>
          <p:cNvSpPr/>
          <p:nvPr/>
        </p:nvSpPr>
        <p:spPr>
          <a:xfrm>
            <a:off x="777240" y="2286000"/>
            <a:ext cx="5157216" cy="2377440"/>
          </a:xfrm>
          <a:prstGeom prst="roundRect">
            <a:avLst>
              <a:gd name="adj" fmla="val 5000"/>
            </a:avLst>
          </a:prstGeom>
          <a:solidFill>
            <a:srgbClr val="060C11"/>
          </a:solidFill>
          <a:ln w="12700">
            <a:solidFill>
              <a:srgbClr val="233A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33271" y="2514600"/>
            <a:ext cx="4754880" cy="320040"/>
          </a:xfrm>
          <a:prstGeom prst="rect">
            <a:avLst/>
          </a:prstGeom>
          <a:noFill/>
        </p:spPr>
        <p:txBody>
          <a:bodyPr wrap="square" lIns="0" tIns="0" rIns="0" bIns="0" anchor="t">
            <a:spAutoFit/>
          </a:bodyPr>
          <a:lstStyle/>
          <a:p>
            <a:pPr algn="l">
              <a:lnSpc>
                <a:spcPct val="108000"/>
              </a:lnSpc>
              <a:spcAft>
                <a:spcPts val="0"/>
              </a:spcAft>
            </a:pPr>
            <a:r>
              <a:rPr sz="1400" b="0">
                <a:solidFill>
                  <a:srgbClr val="8CA3AD"/>
                </a:solidFill>
                <a:latin typeface="Consolas"/>
              </a:rPr>
              <a:t># how different each tumor is from this one</a:t>
            </a:r>
          </a:p>
        </p:txBody>
      </p:sp>
      <p:sp>
        <p:nvSpPr>
          <p:cNvPr id="9" name="TextBox 8"/>
          <p:cNvSpPr txBox="1"/>
          <p:nvPr/>
        </p:nvSpPr>
        <p:spPr>
          <a:xfrm>
            <a:off x="1033271" y="2898648"/>
            <a:ext cx="4754880" cy="320040"/>
          </a:xfrm>
          <a:prstGeom prst="rect">
            <a:avLst/>
          </a:prstGeom>
          <a:noFill/>
        </p:spPr>
        <p:txBody>
          <a:bodyPr wrap="square" lIns="0" tIns="0" rIns="0" bIns="0" anchor="t">
            <a:spAutoFit/>
          </a:bodyPr>
          <a:lstStyle/>
          <a:p>
            <a:pPr algn="l">
              <a:lnSpc>
                <a:spcPct val="108000"/>
              </a:lnSpc>
              <a:spcAft>
                <a:spcPts val="0"/>
              </a:spcAft>
            </a:pPr>
            <a:r>
              <a:rPr sz="1400" b="0">
                <a:solidFill>
                  <a:srgbClr val="F2F7F6"/>
                </a:solidFill>
                <a:latin typeface="Consolas"/>
              </a:rPr>
              <a:t>diff = (self._mat[idx] - qv) / self._std</a:t>
            </a:r>
          </a:p>
        </p:txBody>
      </p:sp>
      <p:sp>
        <p:nvSpPr>
          <p:cNvPr id="10" name="TextBox 9"/>
          <p:cNvSpPr txBox="1"/>
          <p:nvPr/>
        </p:nvSpPr>
        <p:spPr>
          <a:xfrm>
            <a:off x="1033271" y="3282696"/>
            <a:ext cx="4754880" cy="320040"/>
          </a:xfrm>
          <a:prstGeom prst="rect">
            <a:avLst/>
          </a:prstGeom>
          <a:noFill/>
        </p:spPr>
        <p:txBody>
          <a:bodyPr wrap="square" lIns="0" tIns="0" rIns="0" bIns="0" anchor="t">
            <a:spAutoFit/>
          </a:bodyPr>
          <a:lstStyle/>
          <a:p>
            <a:pPr algn="l">
              <a:lnSpc>
                <a:spcPct val="108000"/>
              </a:lnSpc>
              <a:spcAft>
                <a:spcPts val="0"/>
              </a:spcAft>
            </a:pPr>
            <a:r>
              <a:rPr sz="1400" b="0">
                <a:solidFill>
                  <a:srgbClr val="F2F7F6"/>
                </a:solidFill>
                <a:latin typeface="Consolas"/>
              </a:rPr>
              <a:t>dist = np.sqrt((diff ** 2).mean(axis=1))</a:t>
            </a:r>
          </a:p>
        </p:txBody>
      </p:sp>
      <p:sp>
        <p:nvSpPr>
          <p:cNvPr id="11" name="TextBox 10"/>
          <p:cNvSpPr txBox="1"/>
          <p:nvPr/>
        </p:nvSpPr>
        <p:spPr>
          <a:xfrm>
            <a:off x="1033271" y="3666744"/>
            <a:ext cx="4754880" cy="320040"/>
          </a:xfrm>
          <a:prstGeom prst="rect">
            <a:avLst/>
          </a:prstGeom>
          <a:noFill/>
        </p:spPr>
        <p:txBody>
          <a:bodyPr wrap="square" lIns="0" tIns="0" rIns="0" bIns="0" anchor="t">
            <a:spAutoFit/>
          </a:bodyPr>
          <a:lstStyle/>
          <a:p>
            <a:pPr algn="l">
              <a:lnSpc>
                <a:spcPct val="108000"/>
              </a:lnSpc>
              <a:spcAft>
                <a:spcPts val="0"/>
              </a:spcAft>
            </a:pPr>
            <a:r>
              <a:rPr sz="1400" b="0">
                <a:solidFill>
                  <a:srgbClr val="F2F7F6"/>
                </a:solidFill>
                <a:latin typeface="Consolas"/>
              </a:rPr>
              <a:t>order = np.argsort(dist)[:k]   # the k closest</a:t>
            </a:r>
          </a:p>
        </p:txBody>
      </p:sp>
      <p:sp>
        <p:nvSpPr>
          <p:cNvPr id="12" name="TextBox 11"/>
          <p:cNvSpPr txBox="1"/>
          <p:nvPr/>
        </p:nvSpPr>
        <p:spPr>
          <a:xfrm>
            <a:off x="822960" y="4846320"/>
            <a:ext cx="4937760" cy="365760"/>
          </a:xfrm>
          <a:prstGeom prst="rect">
            <a:avLst/>
          </a:prstGeom>
          <a:noFill/>
        </p:spPr>
        <p:txBody>
          <a:bodyPr wrap="square" lIns="0" tIns="0" rIns="0" bIns="0" anchor="t">
            <a:spAutoFit/>
          </a:bodyPr>
          <a:lstStyle/>
          <a:p>
            <a:pPr algn="l">
              <a:lnSpc>
                <a:spcPct val="108000"/>
              </a:lnSpc>
              <a:spcAft>
                <a:spcPts val="800"/>
              </a:spcAft>
            </a:pPr>
            <a:r>
              <a:rPr sz="1300" b="0">
                <a:solidFill>
                  <a:srgbClr val="8CA3AD"/>
                </a:solidFill>
                <a:latin typeface="Consolas"/>
              </a:rPr>
              <a:t>backend/digital_twin.py</a:t>
            </a:r>
          </a:p>
        </p:txBody>
      </p:sp>
      <p:sp>
        <p:nvSpPr>
          <p:cNvPr id="13" name="TextBox 12"/>
          <p:cNvSpPr txBox="1"/>
          <p:nvPr/>
        </p:nvSpPr>
        <p:spPr>
          <a:xfrm>
            <a:off x="822960" y="5349240"/>
            <a:ext cx="5029200" cy="914400"/>
          </a:xfrm>
          <a:prstGeom prst="rect">
            <a:avLst/>
          </a:prstGeom>
          <a:noFill/>
        </p:spPr>
        <p:txBody>
          <a:bodyPr wrap="square" lIns="0" tIns="0" rIns="0" bIns="0" anchor="t">
            <a:spAutoFit/>
          </a:bodyPr>
          <a:lstStyle/>
          <a:p>
            <a:pPr algn="l">
              <a:lnSpc>
                <a:spcPct val="108000"/>
              </a:lnSpc>
              <a:spcAft>
                <a:spcPts val="800"/>
              </a:spcAft>
            </a:pPr>
            <a:r>
              <a:rPr sz="2400" b="0">
                <a:solidFill>
                  <a:srgbClr val="F2F7F6"/>
                </a:solidFill>
                <a:latin typeface="Georgia"/>
              </a:rPr>
              <a:t>Closest biology wins: real neighbors, with their real outcomes.</a:t>
            </a:r>
          </a:p>
        </p:txBody>
      </p:sp>
      <p:sp>
        <p:nvSpPr>
          <p:cNvPr id="14" name="Rectangle 13"/>
          <p:cNvSpPr/>
          <p:nvPr/>
        </p:nvSpPr>
        <p:spPr>
          <a:xfrm>
            <a:off x="6300216" y="2029967"/>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556248" y="1965960"/>
            <a:ext cx="5541264" cy="365760"/>
          </a:xfrm>
          <a:prstGeom prst="rect">
            <a:avLst/>
          </a:prstGeom>
          <a:noFill/>
        </p:spPr>
        <p:txBody>
          <a:bodyPr wrap="square" lIns="0" tIns="0" rIns="0" bIns="0" anchor="t">
            <a:spAutoFit/>
          </a:bodyPr>
          <a:lstStyle/>
          <a:p>
            <a:pPr algn="l">
              <a:lnSpc>
                <a:spcPct val="108000"/>
              </a:lnSpc>
              <a:spcAft>
                <a:spcPts val="800"/>
              </a:spcAft>
            </a:pPr>
            <a:r>
              <a:rPr sz="1300" b="1">
                <a:solidFill>
                  <a:srgbClr val="2DD4BF"/>
                </a:solidFill>
                <a:latin typeface="Consolas"/>
              </a:rPr>
              <a:t>PROTECTING SMALL COHORTS</a:t>
            </a:r>
          </a:p>
        </p:txBody>
      </p:sp>
      <p:sp>
        <p:nvSpPr>
          <p:cNvPr id="16" name="Rounded Rectangle 15"/>
          <p:cNvSpPr/>
          <p:nvPr/>
        </p:nvSpPr>
        <p:spPr>
          <a:xfrm>
            <a:off x="6254496" y="2286000"/>
            <a:ext cx="5157216" cy="2377440"/>
          </a:xfrm>
          <a:prstGeom prst="roundRect">
            <a:avLst>
              <a:gd name="adj" fmla="val 5000"/>
            </a:avLst>
          </a:prstGeom>
          <a:solidFill>
            <a:srgbClr val="060C11"/>
          </a:solidFill>
          <a:ln w="12700">
            <a:solidFill>
              <a:srgbClr val="233A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510528" y="2514600"/>
            <a:ext cx="4754880" cy="320040"/>
          </a:xfrm>
          <a:prstGeom prst="rect">
            <a:avLst/>
          </a:prstGeom>
          <a:noFill/>
        </p:spPr>
        <p:txBody>
          <a:bodyPr wrap="square" lIns="0" tIns="0" rIns="0" bIns="0" anchor="t">
            <a:spAutoFit/>
          </a:bodyPr>
          <a:lstStyle/>
          <a:p>
            <a:pPr algn="l">
              <a:lnSpc>
                <a:spcPct val="108000"/>
              </a:lnSpc>
              <a:spcAft>
                <a:spcPts val="0"/>
              </a:spcAft>
            </a:pPr>
            <a:r>
              <a:rPr sz="1400" b="0">
                <a:solidFill>
                  <a:srgbClr val="F2F7F6"/>
                </a:solidFill>
                <a:latin typeface="Consolas"/>
              </a:rPr>
              <a:t>MIN_COHORT_FOR_STATS = 5</a:t>
            </a:r>
          </a:p>
        </p:txBody>
      </p:sp>
      <p:sp>
        <p:nvSpPr>
          <p:cNvPr id="18" name="TextBox 17"/>
          <p:cNvSpPr txBox="1"/>
          <p:nvPr/>
        </p:nvSpPr>
        <p:spPr>
          <a:xfrm>
            <a:off x="6510528" y="2898648"/>
            <a:ext cx="4754880" cy="320040"/>
          </a:xfrm>
          <a:prstGeom prst="rect">
            <a:avLst/>
          </a:prstGeom>
          <a:noFill/>
        </p:spPr>
        <p:txBody>
          <a:bodyPr wrap="square" lIns="0" tIns="0" rIns="0" bIns="0" anchor="t">
            <a:spAutoFit/>
          </a:bodyPr>
          <a:lstStyle/>
          <a:p>
            <a:pPr algn="l">
              <a:lnSpc>
                <a:spcPct val="108000"/>
              </a:lnSpc>
              <a:spcAft>
                <a:spcPts val="0"/>
              </a:spcAft>
            </a:pPr>
            <a:r>
              <a:rPr sz="1400" b="0">
                <a:solidFill>
                  <a:srgbClr val="F2F7F6"/>
                </a:solidFill>
                <a:latin typeface="Consolas"/>
              </a:rPr>
              <a:t>if n &lt; MIN_COHORT_FOR_STATS:</a:t>
            </a:r>
          </a:p>
        </p:txBody>
      </p:sp>
      <p:sp>
        <p:nvSpPr>
          <p:cNvPr id="19" name="TextBox 18"/>
          <p:cNvSpPr txBox="1"/>
          <p:nvPr/>
        </p:nvSpPr>
        <p:spPr>
          <a:xfrm>
            <a:off x="6510528" y="3282696"/>
            <a:ext cx="4754880" cy="320040"/>
          </a:xfrm>
          <a:prstGeom prst="rect">
            <a:avLst/>
          </a:prstGeom>
          <a:noFill/>
        </p:spPr>
        <p:txBody>
          <a:bodyPr wrap="square" lIns="0" tIns="0" rIns="0" bIns="0" anchor="t">
            <a:spAutoFit/>
          </a:bodyPr>
          <a:lstStyle/>
          <a:p>
            <a:pPr algn="l">
              <a:lnSpc>
                <a:spcPct val="108000"/>
              </a:lnSpc>
              <a:spcAft>
                <a:spcPts val="0"/>
              </a:spcAft>
            </a:pPr>
            <a:r>
              <a:rPr sz="1400" b="0">
                <a:solidFill>
                  <a:srgbClr val="8CA3AD"/>
                </a:solidFill>
                <a:latin typeface="Consolas"/>
              </a:rPr>
              <a:t>    # report the count, hide the details</a:t>
            </a:r>
          </a:p>
        </p:txBody>
      </p:sp>
      <p:sp>
        <p:nvSpPr>
          <p:cNvPr id="20" name="TextBox 19"/>
          <p:cNvSpPr txBox="1"/>
          <p:nvPr/>
        </p:nvSpPr>
        <p:spPr>
          <a:xfrm>
            <a:off x="6510528" y="3666744"/>
            <a:ext cx="4754880" cy="320040"/>
          </a:xfrm>
          <a:prstGeom prst="rect">
            <a:avLst/>
          </a:prstGeom>
          <a:noFill/>
        </p:spPr>
        <p:txBody>
          <a:bodyPr wrap="square" lIns="0" tIns="0" rIns="0" bIns="0" anchor="t">
            <a:spAutoFit/>
          </a:bodyPr>
          <a:lstStyle/>
          <a:p>
            <a:pPr algn="l">
              <a:lnSpc>
                <a:spcPct val="108000"/>
              </a:lnSpc>
              <a:spcAft>
                <a:spcPts val="0"/>
              </a:spcAft>
            </a:pPr>
            <a:r>
              <a:rPr sz="1400" b="0">
                <a:solidFill>
                  <a:srgbClr val="F2F7F6"/>
                </a:solidFill>
                <a:latin typeface="Consolas"/>
              </a:rPr>
              <a:t>    return {**base, "suppressed_small_n": True}</a:t>
            </a:r>
          </a:p>
        </p:txBody>
      </p:sp>
      <p:sp>
        <p:nvSpPr>
          <p:cNvPr id="21" name="TextBox 20"/>
          <p:cNvSpPr txBox="1"/>
          <p:nvPr/>
        </p:nvSpPr>
        <p:spPr>
          <a:xfrm>
            <a:off x="6300216" y="4846320"/>
            <a:ext cx="4937760" cy="365760"/>
          </a:xfrm>
          <a:prstGeom prst="rect">
            <a:avLst/>
          </a:prstGeom>
          <a:noFill/>
        </p:spPr>
        <p:txBody>
          <a:bodyPr wrap="square" lIns="0" tIns="0" rIns="0" bIns="0" anchor="t">
            <a:spAutoFit/>
          </a:bodyPr>
          <a:lstStyle/>
          <a:p>
            <a:pPr algn="l">
              <a:lnSpc>
                <a:spcPct val="108000"/>
              </a:lnSpc>
              <a:spcAft>
                <a:spcPts val="800"/>
              </a:spcAft>
            </a:pPr>
            <a:r>
              <a:rPr sz="1300" b="0">
                <a:solidFill>
                  <a:srgbClr val="8CA3AD"/>
                </a:solidFill>
                <a:latin typeface="Consolas"/>
              </a:rPr>
              <a:t>backend/cohort_analytics.py</a:t>
            </a:r>
          </a:p>
        </p:txBody>
      </p:sp>
      <p:sp>
        <p:nvSpPr>
          <p:cNvPr id="22" name="TextBox 21"/>
          <p:cNvSpPr txBox="1"/>
          <p:nvPr/>
        </p:nvSpPr>
        <p:spPr>
          <a:xfrm>
            <a:off x="6300216" y="5349240"/>
            <a:ext cx="5029200" cy="914400"/>
          </a:xfrm>
          <a:prstGeom prst="rect">
            <a:avLst/>
          </a:prstGeom>
          <a:noFill/>
        </p:spPr>
        <p:txBody>
          <a:bodyPr wrap="square" lIns="0" tIns="0" rIns="0" bIns="0" anchor="t">
            <a:spAutoFit/>
          </a:bodyPr>
          <a:lstStyle/>
          <a:p>
            <a:pPr algn="l">
              <a:lnSpc>
                <a:spcPct val="108000"/>
              </a:lnSpc>
              <a:spcAft>
                <a:spcPts val="800"/>
              </a:spcAft>
            </a:pPr>
            <a:r>
              <a:rPr sz="2400" b="0">
                <a:solidFill>
                  <a:srgbClr val="F2F7F6"/>
                </a:solidFill>
                <a:latin typeface="Georgia"/>
              </a:rPr>
              <a:t>Under five matches, it reports counts and keeps details private.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A1219"/>
        </a:solidFill>
        <a:effectLst/>
      </p:bgPr>
    </p:bg>
    <p:spTree>
      <p:nvGrpSpPr>
        <p:cNvPr id="1" name=""/>
        <p:cNvGrpSpPr/>
        <p:nvPr/>
      </p:nvGrpSpPr>
      <p:grpSpPr>
        <a:xfrm>
          <a:off x="0" y="0"/>
          <a:ext cx="0" cy="0"/>
          <a:chOff x="0" y="0"/>
          <a:chExt cx="0" cy="0"/>
        </a:xfrm>
      </p:grpSpPr>
      <p:sp>
        <p:nvSpPr>
          <p:cNvPr id="2" name="TextBox 1"/>
          <p:cNvSpPr txBox="1"/>
          <p:nvPr/>
        </p:nvSpPr>
        <p:spPr>
          <a:xfrm>
            <a:off x="11338560" y="6492240"/>
            <a:ext cx="777240" cy="274320"/>
          </a:xfrm>
          <a:prstGeom prst="rect">
            <a:avLst/>
          </a:prstGeom>
          <a:noFill/>
        </p:spPr>
        <p:txBody>
          <a:bodyPr wrap="square" lIns="0" tIns="0" rIns="0" bIns="0" anchor="t">
            <a:spAutoFit/>
          </a:bodyPr>
          <a:lstStyle/>
          <a:p>
            <a:pPr algn="r">
              <a:lnSpc>
                <a:spcPct val="108000"/>
              </a:lnSpc>
              <a:spcAft>
                <a:spcPts val="0"/>
              </a:spcAft>
            </a:pPr>
            <a:r>
              <a:rPr sz="1100" b="0">
                <a:solidFill>
                  <a:srgbClr val="8CA3AD"/>
                </a:solidFill>
                <a:latin typeface="Consolas"/>
              </a:rPr>
              <a:t>11 / 13</a:t>
            </a:r>
          </a:p>
        </p:txBody>
      </p:sp>
      <p:sp>
        <p:nvSpPr>
          <p:cNvPr id="3" name="Rectangle 2"/>
          <p:cNvSpPr/>
          <p:nvPr/>
        </p:nvSpPr>
        <p:spPr>
          <a:xfrm>
            <a:off x="713232" y="384048"/>
            <a:ext cx="502920" cy="457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566928"/>
            <a:ext cx="10835640" cy="1234440"/>
          </a:xfrm>
          <a:prstGeom prst="rect">
            <a:avLst/>
          </a:prstGeom>
          <a:noFill/>
        </p:spPr>
        <p:txBody>
          <a:bodyPr wrap="square" lIns="0" tIns="0" rIns="0" bIns="0" anchor="t">
            <a:spAutoFit/>
          </a:bodyPr>
          <a:lstStyle/>
          <a:p>
            <a:pPr algn="l">
              <a:lnSpc>
                <a:spcPct val="100000"/>
              </a:lnSpc>
              <a:spcAft>
                <a:spcPts val="800"/>
              </a:spcAft>
            </a:pPr>
            <a:r>
              <a:rPr sz="4000" b="1">
                <a:solidFill>
                  <a:srgbClr val="F2F7F6"/>
                </a:solidFill>
                <a:latin typeface="Georgia"/>
              </a:rPr>
              <a:t>Tested on patients it never saw, the numbers hold.</a:t>
            </a:r>
          </a:p>
        </p:txBody>
      </p:sp>
      <p:pic>
        <p:nvPicPr>
          <p:cNvPr id="5" name="Picture 4" descr="chart_calibration.png"/>
          <p:cNvPicPr>
            <a:picLocks noChangeAspect="1"/>
          </p:cNvPicPr>
          <p:nvPr/>
        </p:nvPicPr>
        <p:blipFill>
          <a:blip r:embed="rId3"/>
          <a:stretch>
            <a:fillRect/>
          </a:stretch>
        </p:blipFill>
        <p:spPr>
          <a:xfrm>
            <a:off x="731520" y="1965960"/>
            <a:ext cx="5394960" cy="3873413"/>
          </a:xfrm>
          <a:prstGeom prst="rect">
            <a:avLst/>
          </a:prstGeom>
        </p:spPr>
      </p:pic>
      <p:sp>
        <p:nvSpPr>
          <p:cNvPr id="6" name="Rectangle 5"/>
          <p:cNvSpPr/>
          <p:nvPr/>
        </p:nvSpPr>
        <p:spPr>
          <a:xfrm>
            <a:off x="731520" y="1965960"/>
            <a:ext cx="5394960" cy="3873412"/>
          </a:xfrm>
          <a:prstGeom prst="rect">
            <a:avLst/>
          </a:prstGeom>
          <a:noFill/>
          <a:ln w="12700">
            <a:solidFill>
              <a:srgbClr val="233A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537960" y="2103120"/>
            <a:ext cx="4892040" cy="2468880"/>
          </a:xfrm>
          <a:prstGeom prst="rect">
            <a:avLst/>
          </a:prstGeom>
          <a:noFill/>
        </p:spPr>
        <p:txBody>
          <a:bodyPr wrap="square" lIns="0" tIns="0" rIns="0" bIns="0" anchor="t">
            <a:spAutoFit/>
          </a:bodyPr>
          <a:lstStyle/>
          <a:p>
            <a:pPr algn="l">
              <a:lnSpc>
                <a:spcPct val="108000"/>
              </a:lnSpc>
              <a:spcAft>
                <a:spcPts val="2000"/>
              </a:spcAft>
            </a:pPr>
            <a:r>
              <a:rPr sz="2400" b="0">
                <a:solidFill>
                  <a:srgbClr val="F2F7F6"/>
                </a:solidFill>
                <a:latin typeface="Georgia"/>
              </a:rPr>
              <a:t>When it said 60%, about 60% failed.</a:t>
            </a:r>
          </a:p>
          <a:p>
            <a:pPr algn="l">
              <a:lnSpc>
                <a:spcPct val="108000"/>
              </a:lnSpc>
              <a:spcAft>
                <a:spcPts val="2000"/>
              </a:spcAft>
            </a:pPr>
            <a:r>
              <a:rPr sz="2400" b="0">
                <a:solidFill>
                  <a:srgbClr val="F2F7F6"/>
                </a:solidFill>
                <a:latin typeface="Georgia"/>
              </a:rPr>
              <a:t>Graded on 5,213 patients it never trained on.</a:t>
            </a:r>
          </a:p>
          <a:p>
            <a:pPr algn="l">
              <a:lnSpc>
                <a:spcPct val="108000"/>
              </a:lnSpc>
              <a:spcAft>
                <a:spcPts val="2000"/>
              </a:spcAft>
            </a:pPr>
            <a:r>
              <a:rPr sz="2400" b="0">
                <a:solidFill>
                  <a:srgbClr val="F2F7F6"/>
                </a:solidFill>
                <a:latin typeface="Georgia"/>
              </a:rPr>
              <a:t>AUC 0.78 overall; 0.73 on the 2017 set.</a:t>
            </a:r>
          </a:p>
        </p:txBody>
      </p:sp>
      <p:sp>
        <p:nvSpPr>
          <p:cNvPr id="8" name="Rounded Rectangle 7"/>
          <p:cNvSpPr/>
          <p:nvPr/>
        </p:nvSpPr>
        <p:spPr>
          <a:xfrm>
            <a:off x="6537960" y="4892040"/>
            <a:ext cx="4892040" cy="1371600"/>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812280" y="5138928"/>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68312" y="5074920"/>
            <a:ext cx="5029199" cy="365760"/>
          </a:xfrm>
          <a:prstGeom prst="rect">
            <a:avLst/>
          </a:prstGeom>
          <a:noFill/>
        </p:spPr>
        <p:txBody>
          <a:bodyPr wrap="square" lIns="0" tIns="0" rIns="0" bIns="0" anchor="t">
            <a:spAutoFit/>
          </a:bodyPr>
          <a:lstStyle/>
          <a:p>
            <a:pPr algn="l">
              <a:lnSpc>
                <a:spcPct val="108000"/>
              </a:lnSpc>
              <a:spcAft>
                <a:spcPts val="800"/>
              </a:spcAft>
            </a:pPr>
            <a:r>
              <a:rPr sz="1300" b="1">
                <a:solidFill>
                  <a:srgbClr val="2DD4BF"/>
                </a:solidFill>
                <a:latin typeface="Consolas"/>
              </a:rPr>
              <a:t>AUC BY CANCER TYPE</a:t>
            </a:r>
          </a:p>
        </p:txBody>
      </p:sp>
      <p:sp>
        <p:nvSpPr>
          <p:cNvPr id="11" name="TextBox 10"/>
          <p:cNvSpPr txBox="1"/>
          <p:nvPr/>
        </p:nvSpPr>
        <p:spPr>
          <a:xfrm>
            <a:off x="6812280" y="5440680"/>
            <a:ext cx="4572000" cy="822960"/>
          </a:xfrm>
          <a:prstGeom prst="rect">
            <a:avLst/>
          </a:prstGeom>
          <a:noFill/>
        </p:spPr>
        <p:txBody>
          <a:bodyPr wrap="square" lIns="0" tIns="0" rIns="0" bIns="0" anchor="t">
            <a:spAutoFit/>
          </a:bodyPr>
          <a:lstStyle/>
          <a:p>
            <a:pPr algn="l">
              <a:lnSpc>
                <a:spcPct val="108000"/>
              </a:lnSpc>
              <a:spcAft>
                <a:spcPts val="300"/>
              </a:spcAft>
            </a:pPr>
            <a:r>
              <a:rPr sz="1300" b="0">
                <a:solidFill>
                  <a:srgbClr val="F2F7F6"/>
                </a:solidFill>
                <a:latin typeface="Consolas"/>
              </a:rPr>
              <a:t>breast      0.81    lung        0.77</a:t>
            </a:r>
          </a:p>
          <a:p>
            <a:pPr algn="l">
              <a:lnSpc>
                <a:spcPct val="108000"/>
              </a:lnSpc>
              <a:spcAft>
                <a:spcPts val="300"/>
              </a:spcAft>
            </a:pPr>
            <a:r>
              <a:rPr sz="1300" b="0">
                <a:solidFill>
                  <a:srgbClr val="F2F7F6"/>
                </a:solidFill>
                <a:latin typeface="Consolas"/>
              </a:rPr>
              <a:t>colorectal  0.74    prostate    0.74</a:t>
            </a:r>
          </a:p>
          <a:p>
            <a:pPr algn="l">
              <a:lnSpc>
                <a:spcPct val="108000"/>
              </a:lnSpc>
              <a:spcAft>
                <a:spcPts val="300"/>
              </a:spcAft>
            </a:pPr>
            <a:r>
              <a:rPr sz="1300" b="0">
                <a:solidFill>
                  <a:srgbClr val="F2F7F6"/>
                </a:solidFill>
                <a:latin typeface="Consolas"/>
              </a:rPr>
              <a:t>pancreatic  0.71</a:t>
            </a:r>
          </a:p>
        </p:txBody>
      </p:sp>
      <p:sp>
        <p:nvSpPr>
          <p:cNvPr id="12" name="TextBox 11"/>
          <p:cNvSpPr txBox="1"/>
          <p:nvPr/>
        </p:nvSpPr>
        <p:spPr>
          <a:xfrm>
            <a:off x="685800" y="6446520"/>
            <a:ext cx="10835640" cy="320040"/>
          </a:xfrm>
          <a:prstGeom prst="rect">
            <a:avLst/>
          </a:prstGeom>
          <a:noFill/>
        </p:spPr>
        <p:txBody>
          <a:bodyPr wrap="square" lIns="0" tIns="0" rIns="0" bIns="0" anchor="t">
            <a:spAutoFit/>
          </a:bodyPr>
          <a:lstStyle/>
          <a:p>
            <a:pPr algn="l">
              <a:lnSpc>
                <a:spcPct val="108000"/>
              </a:lnSpc>
              <a:spcAft>
                <a:spcPts val="800"/>
              </a:spcAft>
            </a:pPr>
            <a:r>
              <a:rPr sz="1200" b="0" dirty="0">
                <a:solidFill>
                  <a:srgbClr val="8CA3AD"/>
                </a:solidFill>
                <a:latin typeface="Georgia"/>
              </a:rPr>
              <a:t>Source: backend/artifacts/</a:t>
            </a:r>
            <a:r>
              <a:rPr sz="1200" b="0" dirty="0" err="1">
                <a:solidFill>
                  <a:srgbClr val="8CA3AD"/>
                </a:solidFill>
                <a:latin typeface="Georgia"/>
              </a:rPr>
              <a:t>model_metrics.json</a:t>
            </a:r>
            <a:r>
              <a:rPr sz="1200" b="0" dirty="0">
                <a:solidFill>
                  <a:srgbClr val="8CA3AD"/>
                </a:solidFill>
                <a:latin typeface="Georgia"/>
              </a:rPr>
              <a:t>. ROC AUC 0.78, calibration error 0.017.</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A1219"/>
        </a:solidFill>
        <a:effectLst/>
      </p:bgPr>
    </p:bg>
    <p:spTree>
      <p:nvGrpSpPr>
        <p:cNvPr id="1" name=""/>
        <p:cNvGrpSpPr/>
        <p:nvPr/>
      </p:nvGrpSpPr>
      <p:grpSpPr>
        <a:xfrm>
          <a:off x="0" y="0"/>
          <a:ext cx="0" cy="0"/>
          <a:chOff x="0" y="0"/>
          <a:chExt cx="0" cy="0"/>
        </a:xfrm>
      </p:grpSpPr>
      <p:sp>
        <p:nvSpPr>
          <p:cNvPr id="2" name="TextBox 1"/>
          <p:cNvSpPr txBox="1"/>
          <p:nvPr/>
        </p:nvSpPr>
        <p:spPr>
          <a:xfrm>
            <a:off x="11338560" y="6492240"/>
            <a:ext cx="777240" cy="274320"/>
          </a:xfrm>
          <a:prstGeom prst="rect">
            <a:avLst/>
          </a:prstGeom>
          <a:noFill/>
        </p:spPr>
        <p:txBody>
          <a:bodyPr wrap="square" lIns="0" tIns="0" rIns="0" bIns="0" anchor="t">
            <a:spAutoFit/>
          </a:bodyPr>
          <a:lstStyle/>
          <a:p>
            <a:pPr algn="r">
              <a:lnSpc>
                <a:spcPct val="108000"/>
              </a:lnSpc>
              <a:spcAft>
                <a:spcPts val="0"/>
              </a:spcAft>
            </a:pPr>
            <a:r>
              <a:rPr sz="1100" b="0">
                <a:solidFill>
                  <a:srgbClr val="8CA3AD"/>
                </a:solidFill>
                <a:latin typeface="Consolas"/>
              </a:rPr>
              <a:t>12 / 13</a:t>
            </a:r>
          </a:p>
        </p:txBody>
      </p:sp>
      <p:sp>
        <p:nvSpPr>
          <p:cNvPr id="3" name="Rectangle 2"/>
          <p:cNvSpPr/>
          <p:nvPr/>
        </p:nvSpPr>
        <p:spPr>
          <a:xfrm>
            <a:off x="0" y="6720840"/>
            <a:ext cx="12191695" cy="13716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966960" y="4023360"/>
            <a:ext cx="4023360" cy="4023360"/>
          </a:xfrm>
          <a:prstGeom prst="ellipse">
            <a:avLst/>
          </a:prstGeom>
          <a:noFill/>
          <a:ln w="19050">
            <a:solidFill>
              <a:srgbClr val="154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0972800" y="5029200"/>
            <a:ext cx="2011680" cy="2011680"/>
          </a:xfrm>
          <a:prstGeom prst="ellipse">
            <a:avLst/>
          </a:prstGeom>
          <a:noFill/>
          <a:ln w="19050">
            <a:solidFill>
              <a:srgbClr val="154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85800" y="1645920"/>
            <a:ext cx="10789920" cy="1188720"/>
          </a:xfrm>
          <a:prstGeom prst="rect">
            <a:avLst/>
          </a:prstGeom>
          <a:noFill/>
        </p:spPr>
        <p:txBody>
          <a:bodyPr wrap="square" lIns="0" tIns="0" rIns="0" bIns="0" anchor="t">
            <a:spAutoFit/>
          </a:bodyPr>
          <a:lstStyle/>
          <a:p>
            <a:pPr algn="l">
              <a:lnSpc>
                <a:spcPct val="108000"/>
              </a:lnSpc>
              <a:spcAft>
                <a:spcPts val="800"/>
              </a:spcAft>
            </a:pPr>
            <a:r>
              <a:rPr sz="4400" b="1">
                <a:solidFill>
                  <a:srgbClr val="F2F7F6"/>
                </a:solidFill>
                <a:latin typeface="Georgia"/>
              </a:rPr>
              <a:t>Doctors should not have to guess alone.</a:t>
            </a:r>
          </a:p>
        </p:txBody>
      </p:sp>
      <p:sp>
        <p:nvSpPr>
          <p:cNvPr id="7" name="TextBox 6"/>
          <p:cNvSpPr txBox="1"/>
          <p:nvPr/>
        </p:nvSpPr>
        <p:spPr>
          <a:xfrm>
            <a:off x="713232" y="3017520"/>
            <a:ext cx="10515600" cy="1463040"/>
          </a:xfrm>
          <a:prstGeom prst="rect">
            <a:avLst/>
          </a:prstGeom>
          <a:noFill/>
        </p:spPr>
        <p:txBody>
          <a:bodyPr wrap="square" lIns="0" tIns="0" rIns="0" bIns="0" anchor="t">
            <a:spAutoFit/>
          </a:bodyPr>
          <a:lstStyle/>
          <a:p>
            <a:pPr algn="l">
              <a:lnSpc>
                <a:spcPct val="108000"/>
              </a:lnSpc>
              <a:spcAft>
                <a:spcPts val="1400"/>
              </a:spcAft>
            </a:pPr>
            <a:r>
              <a:rPr sz="2600" b="0">
                <a:solidFill>
                  <a:srgbClr val="8CA3AD"/>
                </a:solidFill>
                <a:latin typeface="Georgia"/>
              </a:rPr>
              <a:t>Free public data. Open code. Real patients.</a:t>
            </a:r>
          </a:p>
          <a:p>
            <a:pPr algn="l">
              <a:lnSpc>
                <a:spcPct val="108000"/>
              </a:lnSpc>
              <a:spcAft>
                <a:spcPts val="1400"/>
              </a:spcAft>
            </a:pPr>
            <a:r>
              <a:rPr sz="2600" b="0">
                <a:solidFill>
                  <a:srgbClr val="8CA3AD"/>
                </a:solidFill>
                <a:latin typeface="Georgia"/>
              </a:rPr>
              <a:t>Watch it live: load a demo patient and judge for yourself.</a:t>
            </a:r>
          </a:p>
        </p:txBody>
      </p:sp>
      <p:sp>
        <p:nvSpPr>
          <p:cNvPr id="8" name="TextBox 7"/>
          <p:cNvSpPr txBox="1"/>
          <p:nvPr/>
        </p:nvSpPr>
        <p:spPr>
          <a:xfrm>
            <a:off x="713232" y="4480560"/>
            <a:ext cx="10515600" cy="457200"/>
          </a:xfrm>
          <a:prstGeom prst="rect">
            <a:avLst/>
          </a:prstGeom>
          <a:noFill/>
        </p:spPr>
        <p:txBody>
          <a:bodyPr wrap="square" lIns="0" tIns="0" rIns="0" bIns="0" anchor="t">
            <a:spAutoFit/>
          </a:bodyPr>
          <a:lstStyle/>
          <a:p>
            <a:pPr algn="l">
              <a:lnSpc>
                <a:spcPct val="108000"/>
              </a:lnSpc>
              <a:spcAft>
                <a:spcPts val="800"/>
              </a:spcAft>
            </a:pPr>
            <a:r>
              <a:rPr sz="1600" b="0">
                <a:solidFill>
                  <a:srgbClr val="8CA3AD"/>
                </a:solidFill>
                <a:latin typeface="Consolas"/>
              </a:rPr>
              <a:t>26,064 patients  ·  201 signals  ·  8 models  ·  0.78 AUC</a:t>
            </a:r>
          </a:p>
        </p:txBody>
      </p:sp>
      <p:sp>
        <p:nvSpPr>
          <p:cNvPr id="9" name="Rounded Rectangle 8">
            <a:hlinkClick r:id="rId3"/>
          </p:cNvPr>
          <p:cNvSpPr/>
          <p:nvPr/>
        </p:nvSpPr>
        <p:spPr>
          <a:xfrm>
            <a:off x="713232" y="5120640"/>
            <a:ext cx="4114800" cy="777240"/>
          </a:xfrm>
          <a:prstGeom prst="roundRect">
            <a:avLst>
              <a:gd name="adj" fmla="val 5000"/>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a:hlinkClick r:id="rId3"/>
          </p:cNvPr>
          <p:cNvSpPr txBox="1"/>
          <p:nvPr/>
        </p:nvSpPr>
        <p:spPr>
          <a:xfrm>
            <a:off x="713232" y="5120640"/>
            <a:ext cx="4114800" cy="777240"/>
          </a:xfrm>
          <a:prstGeom prst="rect">
            <a:avLst/>
          </a:prstGeom>
          <a:noFill/>
        </p:spPr>
        <p:txBody>
          <a:bodyPr wrap="square" lIns="0" tIns="0" rIns="0" bIns="0" anchor="ctr">
            <a:spAutoFit/>
          </a:bodyPr>
          <a:lstStyle/>
          <a:p>
            <a:pPr algn="ctr">
              <a:lnSpc>
                <a:spcPct val="108000"/>
              </a:lnSpc>
              <a:spcAft>
                <a:spcPts val="200"/>
              </a:spcAft>
            </a:pPr>
            <a:r>
              <a:rPr sz="1000" b="1">
                <a:solidFill>
                  <a:srgbClr val="062B27"/>
                </a:solidFill>
                <a:latin typeface="Consolas"/>
              </a:rPr>
              <a:t>CLICK TO OPEN</a:t>
            </a:r>
          </a:p>
          <a:p>
            <a:pPr algn="ctr">
              <a:lnSpc>
                <a:spcPct val="108000"/>
              </a:lnSpc>
              <a:spcAft>
                <a:spcPts val="200"/>
              </a:spcAft>
            </a:pPr>
            <a:r>
              <a:rPr sz="1900" b="1">
                <a:solidFill>
                  <a:srgbClr val="062B27"/>
                </a:solidFill>
                <a:latin typeface="Consolas"/>
              </a:rPr>
              <a:t>resistanceai.streamlit.app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2DD4BF"/>
      </a:hlink>
      <a:folHlink>
        <a:srgbClr val="2DD4BF"/>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728</TotalTime>
  <Words>1707</Words>
  <Application>Microsoft Office PowerPoint</Application>
  <PresentationFormat>Custom</PresentationFormat>
  <Paragraphs>152</Paragraphs>
  <Slides>12</Slides>
  <Notes>12</Notes>
  <HiddenSlides>0</HiddenSlides>
  <MMClips>0</MMClips>
  <ScaleCrop>false</ScaleCrop>
  <HeadingPairs>
    <vt:vector size="4" baseType="variant">
      <vt:variant>
        <vt:lpstr>Theme</vt:lpstr>
      </vt:variant>
      <vt:variant>
        <vt:i4>1</vt:i4>
      </vt:variant>
      <vt:variant>
        <vt:lpstr>Slide Titles</vt:lpstr>
      </vt:variant>
      <vt:variant>
        <vt:i4>12</vt:i4>
      </vt:variant>
    </vt:vector>
  </HeadingPairs>
  <TitlesOfParts>
    <vt:vector size="1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Manager/>
  <Company/>
  <LinksUpToDate>false</LinksUpToDate>
  <SharedDoc>false</SharedDoc>
  <HyperlinkBase/>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subject/>
  <dc:creator/>
  <cp:keywords/>
  <dc:description>generated using python-pptx</dc:description>
  <cp:lastModifiedBy>Abhinav M</cp:lastModifiedBy>
  <cp:revision>4</cp:revision>
  <dcterms:created xsi:type="dcterms:W3CDTF">2013-01-27T09:14:16Z</dcterms:created>
  <dcterms:modified xsi:type="dcterms:W3CDTF">2026-10-17T16:48:23Z</dcterms:modified>
  <cp:category/>
</cp:coreProperties>
</file>