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02920"/>
            <a:ext cx="566928" cy="566928"/>
          </a:xfrm>
          <a:prstGeom prst="roundRect">
            <a:avLst>
              <a:gd name="adj" fmla="val 5500"/>
            </a:avLst>
          </a:prstGeom>
          <a:solidFill>
            <a:srgbClr val="141F3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1F5F9"/>
                </a:solidFill>
                <a:latin typeface="Segoe UI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8448" y="6217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0A5FA"/>
                </a:solidFill>
                <a:latin typeface="Segoe UI"/>
              </a:rPr>
              <a:t>CONGRESSIONAL APP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1F5F9"/>
                </a:solidFill>
                <a:latin typeface="Segoe UI"/>
              </a:rPr>
              <a:t>ResistanceAI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26517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94A3B8"/>
                </a:solidFill>
                <a:latin typeface="Segoe UI"/>
              </a:rPr>
              <a:t>Predicting which cancer treatments will fail — before patients start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52044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D92AB"/>
                </a:solidFill>
                <a:latin typeface="Segoe UI"/>
              </a:rPr>
              <a:t>A calibrated machine-learning model trained on real sequenced tumors estimates the risk that the next regimen fails, shows the genomic reasons, and links each patient to evidence-matched therapies and recruiting trials.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72000"/>
            <a:ext cx="2606040" cy="105156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70001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60A5FA"/>
                </a:solidFill>
                <a:latin typeface="Consolas"/>
              </a:rPr>
              <a:t>26,064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12064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1F5F9"/>
                </a:solidFill>
                <a:latin typeface="Segoe UI"/>
              </a:rPr>
              <a:t>LABELED PATIENTS
</a:t>
            </a:r>
            <a:r>
              <a:rPr sz="900" b="0" i="0">
                <a:solidFill>
                  <a:srgbClr val="94A3B8"/>
                </a:solidFill>
                <a:latin typeface="Segoe UI"/>
              </a:rPr>
              <a:t>MSK-IMPACT + MSK-CHORD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4572000"/>
            <a:ext cx="2606040" cy="105156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470001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60A5FA"/>
                </a:solidFill>
                <a:latin typeface="Consolas"/>
              </a:rPr>
              <a:t>0.781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512064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1F5F9"/>
                </a:solidFill>
                <a:latin typeface="Segoe UI"/>
              </a:rPr>
              <a:t>HELD-OUT ROC-AUC
</a:t>
            </a:r>
            <a:r>
              <a:rPr sz="900" b="0" i="0">
                <a:solidFill>
                  <a:srgbClr val="94A3B8"/>
                </a:solidFill>
                <a:latin typeface="Segoe UI"/>
              </a:rPr>
              <a:t>5,213-patient test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4572000"/>
            <a:ext cx="2606040" cy="105156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470001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60A5FA"/>
                </a:solidFill>
                <a:latin typeface="Consolas"/>
              </a:rPr>
              <a:t>201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512064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1F5F9"/>
                </a:solidFill>
                <a:latin typeface="Segoe UI"/>
              </a:rPr>
              <a:t>GENOMIC + CLINICAL
</a:t>
            </a:r>
            <a:r>
              <a:rPr sz="900" b="0" i="0">
                <a:solidFill>
                  <a:srgbClr val="94A3B8"/>
                </a:solidFill>
                <a:latin typeface="Segoe UI"/>
              </a:rPr>
              <a:t>model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3688" y="4572000"/>
            <a:ext cx="2606040" cy="105156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6568" y="470001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60A5FA"/>
                </a:solidFill>
                <a:latin typeface="Consolas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512064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1F5F9"/>
                </a:solidFill>
                <a:latin typeface="Segoe UI"/>
              </a:rPr>
              <a:t>HGB MODELS
</a:t>
            </a:r>
            <a:r>
              <a:rPr sz="900" b="0" i="0">
                <a:solidFill>
                  <a:srgbClr val="94A3B8"/>
                </a:solidFill>
                <a:latin typeface="Segoe UI"/>
              </a:rPr>
              <a:t>+ isotonic calibration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080760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6217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Abhinav Mishra · built with Python, scikit-learn, and Streamlit · trained on public de-identified data (cBioPortal)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Cancer treatment is still guesswork.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About 2 million Americans are diagnosed with cancer each year. In advanced disease, acquired drug resistance is a leading cause of treatment failure.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3566160" cy="22860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73152" cy="95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1F5F9"/>
                </a:solidFill>
                <a:latin typeface="Segoe UI"/>
              </a:rPr>
              <a:t>Too much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A tumor's sequencing report lists hundreds of alterations. No tumor board can deeply review every patient's genome.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920240"/>
            <a:ext cx="3566160" cy="22860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920240"/>
            <a:ext cx="73152" cy="95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945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1F5F9"/>
                </a:solidFill>
                <a:latin typeface="Segoe UI"/>
              </a:rPr>
              <a:t>Too slow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9748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Choosing the post-progression regimen can take days — and molecular tumor boards exist mostly at major cancer centers.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4" y="1920240"/>
            <a:ext cx="3566160" cy="22860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4" y="1920240"/>
            <a:ext cx="73152" cy="95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6" y="21945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1F5F9"/>
                </a:solidFill>
                <a:latin typeface="Segoe UI"/>
              </a:rPr>
              <a:t>No foresight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69748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Segoe UI"/>
              </a:rPr>
              <a:t>Clinicians can't see which regimen is likely to fail until the patient has already failed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63440"/>
            <a:ext cx="11064240" cy="1234440"/>
          </a:xfrm>
          <a:prstGeom prst="roundRect">
            <a:avLst>
              <a:gd name="adj" fmla="val 5500"/>
            </a:avLst>
          </a:prstGeom>
          <a:solidFill>
            <a:srgbClr val="141F36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1F5F9"/>
                </a:solidFill>
                <a:latin typeface="Segoe UI"/>
              </a:rPr>
              <a:t>The next therapy is chosen by reading the tumor's genome. </a:t>
            </a:r>
            <a:r>
              <a:rPr sz="1450" b="0" i="0">
                <a:solidFill>
                  <a:srgbClr val="94A3B8"/>
                </a:solidFill>
                <a:latin typeface="Segoe UI"/>
              </a:rPr>
              <a:t>Molecular tumor boards do that review today — but their expertise is scarce, slow, and unevenly available. ResistanceAI puts that review into software.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A tumor-board workup, in software.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6035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Calibrated risk — </a:t>
            </a:r>
            <a:r>
              <a:rPr sz="1400" b="0" i="0">
                <a:solidFill>
                  <a:srgbClr val="94A3B8"/>
                </a:solidFill>
                <a:latin typeface="Segoe UI"/>
              </a:rPr>
              <a:t>the probability the next regimen fails — a real percentage, not a black-box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34640"/>
            <a:ext cx="6035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The reasons — </a:t>
            </a:r>
            <a:r>
              <a:rPr sz="1400" b="0" i="0">
                <a:solidFill>
                  <a:srgbClr val="94A3B8"/>
                </a:solidFill>
                <a:latin typeface="Segoe UI"/>
              </a:rPr>
              <a:t>which of this patient's alterations raise or lower the estimate, plus the escape mechanisms behind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703320"/>
            <a:ext cx="6035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The options — </a:t>
            </a:r>
            <a:r>
              <a:rPr sz="1400" b="0" i="0">
                <a:solidFill>
                  <a:srgbClr val="94A3B8"/>
                </a:solidFill>
                <a:latin typeface="Segoe UI"/>
              </a:rPr>
              <a:t>evidence-ranked regimens and live recruiting trials matched to the 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1999"/>
            <a:ext cx="6035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F5F9"/>
                </a:solidFill>
                <a:latin typeface="Segoe UI"/>
              </a:rPr>
              <a:t>The receipts — </a:t>
            </a:r>
            <a:r>
              <a:rPr sz="1400" b="0" i="0">
                <a:solidFill>
                  <a:srgbClr val="94A3B8"/>
                </a:solidFill>
                <a:latin typeface="Segoe UI"/>
              </a:rPr>
              <a:t>what actually happened to the most similar real patients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965960"/>
            <a:ext cx="2194560" cy="96012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42048" y="2112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0A5FA"/>
                </a:solidFill>
                <a:latin typeface="Consolas"/>
              </a:rPr>
              <a:t>26,064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2048" y="256946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LABELED PATIENTS — MSK-IMPACT + CHORD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965960"/>
            <a:ext cx="2194560" cy="96012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2112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0A5FA"/>
                </a:solidFill>
                <a:latin typeface="Consolas"/>
              </a:rPr>
              <a:t>0.781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3768" y="256946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HELD-OUT ROC-AUC · PR-AUC 0.815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108960"/>
            <a:ext cx="2194560" cy="96012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0A5FA"/>
                </a:solidFill>
                <a:latin typeface="Consolas"/>
              </a:rPr>
              <a:t>201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371246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GENOMIC + CLINICAL FEATURES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3108960"/>
            <a:ext cx="2194560" cy="96012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3768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0A5FA"/>
                </a:solidFill>
                <a:latin typeface="Consolas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73768" y="371246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CURATED RESISTANCE-MECHANISM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526280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D92AB"/>
                </a:solidFill>
                <a:latin typeface="Segoe UI"/>
              </a:rPr>
              <a:t>Every number on screen is computed live from the loaded patient — nothing is mocked or hard-coded.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One click. A real patient. Every tab.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9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6766560" cy="3806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8288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0A5F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84708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F5F9"/>
                </a:solidFill>
                <a:latin typeface="Segoe UI"/>
              </a:rPr>
              <a:t>Load 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212848"/>
            <a:ext cx="3794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80-case worklist of real sequenced patients, an NGS report upload, or the one-click demo patient.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200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0A5F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1868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F5F9"/>
                </a:solidFill>
                <a:latin typeface="Segoe UI"/>
              </a:rPr>
              <a:t>Read the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584448"/>
            <a:ext cx="3794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Calibrated risk + interval, the driving alterations, mechanism hypotheses, observed outcomes.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0A5FA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59028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1F5F9"/>
                </a:solidFill>
                <a:latin typeface="Segoe UI"/>
              </a:rPr>
              <a:t>Compare the options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56048"/>
            <a:ext cx="3794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Segoe UI"/>
              </a:rPr>
              <a:t>Matched therapies, recruiting trials, similar-patient outcomes, and a board-ready dossier.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5486400"/>
            <a:ext cx="3977639" cy="685800"/>
          </a:xfrm>
          <a:prstGeom prst="roundRect">
            <a:avLst>
              <a:gd name="adj" fmla="val 5500"/>
            </a:avLst>
          </a:prstGeom>
          <a:solidFill>
            <a:srgbClr val="141F36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6408" y="5650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D92AB"/>
                </a:solidFill>
                <a:latin typeface="Segoe UI"/>
              </a:rPr>
              <a:t>The demo patient is a real de-identified MSK-CHORD case — P-0045862, lung adenocarcinoma.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WHAT THE BOARD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The assessment: a number you can defend.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9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7223760" cy="40633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38160" y="1874520"/>
            <a:ext cx="54864" cy="95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8288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Calibrated 53%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121408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isotonic-calibrated probability + ensemble interval — the model flags its own uncertainty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2770632"/>
            <a:ext cx="54864" cy="95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724912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Plain-language 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01752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one sentence a clinician can read aloud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666744"/>
            <a:ext cx="54864" cy="95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21024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Ablation chart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913632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each feature's measured effect on this patient's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4562856"/>
            <a:ext cx="54864" cy="95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4517136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Mechanism hypotheses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809744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published escape routes, each citing the alterations detected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5458968"/>
            <a:ext cx="54864" cy="95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541324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Observed outcomes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705856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survival of 26,064 patients by predicted-risk quartile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FROM RISK 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Options, ranked — with receipts.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9_therap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1118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62356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Evidence-ranked regimens — OncoKB level, NCCN tier, matched biomarker, and a resistance caveat on every card.</a:t>
            </a:r>
          </a:p>
        </p:txBody>
      </p:sp>
      <p:pic>
        <p:nvPicPr>
          <p:cNvPr id="8" name="Picture 7" descr="v9_tw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83080"/>
            <a:ext cx="5532120" cy="31118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562356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The 8 most similar real patients — 38% observed failure rate — and live ClinicalTrials.gov matches for the same biomarkers.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How it works end-to-end.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965960"/>
            <a:ext cx="1719072" cy="13716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1719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Case intake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60320"/>
            <a:ext cx="17190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onsolas"/>
              </a:rPr>
              <a:t>worklist · NGS JSON
upload · what-if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2468880"/>
            <a:ext cx="237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B82F6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2304" y="1965960"/>
            <a:ext cx="1719072" cy="13716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32304" y="2148840"/>
            <a:ext cx="1719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Normalize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2560320"/>
            <a:ext cx="17190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onsolas"/>
              </a:rPr>
              <a:t>201-column
feature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2468880"/>
            <a:ext cx="237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B82F6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965960"/>
            <a:ext cx="1719072" cy="13716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148840"/>
            <a:ext cx="1719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560320"/>
            <a:ext cx="17190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onsolas"/>
              </a:rPr>
              <a:t>HistGradient-
Boosting ×8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2468880"/>
            <a:ext cx="237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B82F6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1965960"/>
            <a:ext cx="1719072" cy="13716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3056" y="2148840"/>
            <a:ext cx="1719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Calibrate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2560320"/>
            <a:ext cx="17190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onsolas"/>
              </a:rPr>
              <a:t>isotonic
regression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468880"/>
            <a:ext cx="237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B82F6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2" y="1965960"/>
            <a:ext cx="1719072" cy="13716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2148840"/>
            <a:ext cx="1719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Explain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2560320"/>
            <a:ext cx="17190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onsolas"/>
              </a:rPr>
              <a:t>ablation +
mechanism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6" y="2468880"/>
            <a:ext cx="237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B82F6"/>
                </a:solidFill>
                <a:latin typeface="Segoe U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93808" y="1965960"/>
            <a:ext cx="1719072" cy="13716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93808" y="2148840"/>
            <a:ext cx="1719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1F5F9"/>
                </a:solidFill>
                <a:latin typeface="Segoe UI"/>
              </a:rPr>
              <a:t>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3808" y="2560320"/>
            <a:ext cx="17190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onsolas"/>
              </a:rPr>
              <a:t>therapies ·
trials · twins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794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3B8"/>
                </a:solidFill>
                <a:latin typeface="Segoe UI"/>
              </a:rPr>
              <a:t>BACKEND/ — THE PURE-LOGIC LAYER BEHIND EVERY SCREEN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160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0A5FA"/>
                </a:solidFill>
                <a:latin typeface="Consolas"/>
              </a:rPr>
              <a:t>predictor.py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43484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calibrated ensemble + interval + attribution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01568" y="4160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0A5FA"/>
                </a:solidFill>
                <a:latin typeface="Consolas"/>
              </a:rPr>
              <a:t>features.py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443484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201-col schema · input normalization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4160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0A5FA"/>
                </a:solidFill>
                <a:latin typeface="Consolas"/>
              </a:rPr>
              <a:t>mechanisms.py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443484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20 published escape-mechanism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4160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0A5FA"/>
                </a:solidFill>
                <a:latin typeface="Consolas"/>
              </a:rPr>
              <a:t>digital_twin.py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70848" y="443484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k-nearest real patients + outcomes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0A5FA"/>
                </a:solidFill>
                <a:latin typeface="Consolas"/>
              </a:rPr>
              <a:t>trial_engine.py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30352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live ClinicalTrials.gov v2 client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0A5FA"/>
                </a:solidFill>
                <a:latin typeface="Consolas"/>
              </a:rPr>
              <a:t>cohort_analytics.py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1568" y="530352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biomarker queries + KM survival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0A5FA"/>
                </a:solidFill>
                <a:latin typeface="Consolas"/>
              </a:rPr>
              <a:t>data_ingestion.py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530352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NGS report + corpus ingest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70848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0A5FA"/>
                </a:solidFill>
                <a:latin typeface="Consolas"/>
              </a:rPr>
              <a:t>institutional_db.py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70848" y="5303520"/>
            <a:ext cx="2697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audit + decision ledger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BEHIND THE SCENES —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A calibrated ensemble, not a black box.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6675120" cy="3931920"/>
          </a:xfrm>
          <a:prstGeom prst="roundRect">
            <a:avLst>
              <a:gd name="adj" fmla="val 5500"/>
            </a:avLst>
          </a:prstGeom>
          <a:solidFill>
            <a:srgbClr val="0B1220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11096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D92AB"/>
                </a:solidFill>
                <a:latin typeface="Consolas"/>
              </a:rPr>
              <a:t>backend/predictor.py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240280"/>
            <a:ext cx="62179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ens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=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np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array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[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m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predict_proba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x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[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1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]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[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0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for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m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in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self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models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]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1">
                <a:solidFill>
                  <a:srgbClr val="7D92AB"/>
                </a:solidFill>
                <a:latin typeface="Consolas"/>
              </a:rPr>
              <a:t># 8 bagged models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raw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=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float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ens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mean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proba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=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float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self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isotonic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predict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[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raw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]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[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0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]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spread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=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float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ens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std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1">
                <a:solidFill>
                  <a:srgbClr val="7D92AB"/>
                </a:solidFill>
                <a:latin typeface="Consolas"/>
              </a:rPr>
              <a:t># ensemble disagreement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risk_score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=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int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round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proba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*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100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ci_half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=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max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2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int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round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1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645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*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spread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*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100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percentile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=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np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searchsorted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self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cohort_risk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proba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/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len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(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self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cohort_risk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)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*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100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7D92AB"/>
                </a:solidFill>
                <a:latin typeface="Consolas"/>
              </a:rPr>
              <a:t># ... then: mechanisms, ablation attributions,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7D92AB"/>
                </a:solidFill>
                <a:latin typeface="Consolas"/>
              </a:rPr>
              <a:t># therapy matching, risk tier + 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8288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Ensemble vote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21408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8 HistGradientBoosting models trained on 15,638 patients vote independently.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8529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Isotonic calibration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3145536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a regression fit on held-out folds maps votes to true probabilities — 53% really means ~53% (ECE 0.017).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877056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Honest interval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69664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ensemble disagreement becomes the ± band; unusual profiles get wide intervals, not fake precision.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4901184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Cohort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5193792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the score is placed against 5,213 real held-out patients — nobody is scored by a model that saw their record.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BEHIND THE SCENES — THE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Mechanism rules + evidence matching.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6675120" cy="3931920"/>
          </a:xfrm>
          <a:prstGeom prst="roundRect">
            <a:avLst>
              <a:gd name="adj" fmla="val 5500"/>
            </a:avLst>
          </a:prstGeom>
          <a:solidFill>
            <a:srgbClr val="0B1220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11096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D92AB"/>
                </a:solidFill>
                <a:latin typeface="Consolas"/>
              </a:rPr>
              <a:t>backend/mechanisms.py — one of 20 curated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240280"/>
            <a:ext cx="62179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"id"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"sclc_transformation"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"mechanism"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"Neuroendocrine (SCLC) transformation"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"when"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{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"genes_all"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{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"RB1"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"TP53"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}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"genes_driver"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{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"EGFR"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"ALK"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"ROS1"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}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}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"implication"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"Complete RB1 loss with TP53 in 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EGFR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/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ALK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-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driven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adenocarcinoma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is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the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genomic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signature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of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small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-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cell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transformation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"strategy"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"Re-biopsy; platinum-etoposide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+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atezolizumab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60A5FA"/>
                </a:solidFill>
                <a:latin typeface="Consolas"/>
              </a:rPr>
              <a:t>if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transformed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.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"level"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: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10B981"/>
                </a:solidFill>
                <a:latin typeface="Consolas"/>
              </a:rPr>
              <a:t>"established"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}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1">
                <a:solidFill>
                  <a:srgbClr val="7D92AB"/>
                </a:solidFill>
                <a:latin typeface="Consolas"/>
              </a:rPr>
              <a:t># fires only if EVERY 'when' clause holds —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0">
                <a:solidFill>
                  <a:srgbClr val="F1F5F9"/>
                </a:solidFill>
                <a:latin typeface="Consolas"/>
              </a:rPr>
              <a:t> </a:t>
            </a:r>
            <a:r>
              <a:rPr sz="1050" b="0" i="1">
                <a:solidFill>
                  <a:srgbClr val="7D92AB"/>
                </a:solidFill>
                <a:latin typeface="Consolas"/>
              </a:rPr>
              <a:t># and must cite the detected alterations as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8288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Curated, not learned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21408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20 escape mechanisms from the literature — bypass tracks, on-target reactivation, lineage transformation, immune exclusion.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8529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Evidence or silence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3145536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a hypothesis renders only with the patient's alterations listed beside it — no evidence, no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877056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Counterweights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69664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sensitivity rules (BRCA/HRD → PARP, MSI/POLE → checkpoint) balance the resistance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4901184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Therapy matcher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5193792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the same alterations query a curated knowledge base — OncoKB levels, NCCN tiers, line of therapy.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DOES IT HOLD UP?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F5F9"/>
                </a:solidFill>
                <a:latin typeface="Segoe UI"/>
              </a:rPr>
              <a:t>Honest numbers, built-in safeguards.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9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874520"/>
            <a:ext cx="54864" cy="95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0" y="182880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Held-out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121408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every metric comes from 5,213 test patients the model never trained 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2770632"/>
            <a:ext cx="54864" cy="95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0" y="2724912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Calibrated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30175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the calibration curve hugs the diagonal — ECE 0.017, Brier 0.183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3666744"/>
            <a:ext cx="54864" cy="95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3621024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Leakage-safe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3913632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survival curves use out-of-fold predictions; twins can't match themselves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562856"/>
            <a:ext cx="54864" cy="95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0" y="4517136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Privacy floor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4809744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cohorts under 5 patients suppress outcome stats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5458968"/>
            <a:ext cx="54864" cy="95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5413248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1F5F9"/>
                </a:solidFill>
                <a:latin typeface="Segoe UI"/>
              </a:rPr>
              <a:t>Accountable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5705856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Segoe UI"/>
              </a:rPr>
              <a:t>local audit ledger logs every inference and board 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ResistanceAI · investigational research prototype — not a diagnostic device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D92A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40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0A5FA"/>
                </a:solidFill>
                <a:latin typeface="Segoe UI"/>
              </a:rPr>
              <a:t>RESISTANCEAI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338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1F5F9"/>
                </a:solidFill>
                <a:latin typeface="Segoe UI"/>
              </a:rPr>
              <a:t>From a genome to a defensible
next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2606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Segoe UI"/>
              </a:rPr>
              <a:t>Every screen in this video is the running app — real data, real model, real code. Nothing mocked.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3657600"/>
            <a:ext cx="2103120" cy="9144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85615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calibrated % + interval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3657600"/>
            <a:ext cx="2103120" cy="9144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3785615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411480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ablation + mechanism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3657600"/>
            <a:ext cx="2103120" cy="9144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3785615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Options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6944" y="411480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therapies + live trials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70064" y="3657600"/>
            <a:ext cx="2103120" cy="9144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34656" y="3785615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34656" y="411480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similar-patient outcomes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37776" y="3657600"/>
            <a:ext cx="2103120" cy="914400"/>
          </a:xfrm>
          <a:prstGeom prst="roundRect">
            <a:avLst>
              <a:gd name="adj" fmla="val 5500"/>
            </a:avLst>
          </a:prstGeom>
          <a:solidFill>
            <a:srgbClr val="1E293B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2368" y="3785615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Safeguards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2368" y="411480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audit, privacy floor, banner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5500"/>
            </a:avLst>
          </a:prstGeom>
          <a:solidFill>
            <a:srgbClr val="141F36"/>
          </a:solidFill>
          <a:ln w="12700">
            <a:solidFill>
              <a:srgbClr val="2B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3036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0A5FA"/>
                </a:solidFill>
                <a:latin typeface="Segoe UI"/>
              </a:rPr>
              <a:t>DEMO — running live:  </a:t>
            </a:r>
            <a:r>
              <a:rPr sz="1350" b="0" i="0">
                <a:solidFill>
                  <a:srgbClr val="F1F5F9"/>
                </a:solidFill>
                <a:latin typeface="Segoe UI"/>
              </a:rPr>
              <a:t>Load a demo patient → Risk summary → Therapy options → Similar patients → Model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172200"/>
            <a:ext cx="11064240" cy="9525"/>
          </a:xfrm>
          <a:prstGeom prst="rect">
            <a:avLst/>
          </a:prstGeom>
          <a:solidFill>
            <a:srgbClr val="2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D92AB"/>
                </a:solidFill>
                <a:latin typeface="Segoe UI"/>
              </a:rPr>
              <a:t>Investigational research prototype — all outputs require oncologist review. Trained on public de-identified MSK-IMPACT + MSK-CHORD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